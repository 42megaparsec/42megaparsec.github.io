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92" r:id="rId2"/>
    <p:sldId id="709" r:id="rId3"/>
    <p:sldId id="710" r:id="rId4"/>
    <p:sldId id="711" r:id="rId5"/>
    <p:sldId id="712" r:id="rId6"/>
    <p:sldId id="621" r:id="rId7"/>
    <p:sldId id="724" r:id="rId8"/>
    <p:sldId id="725" r:id="rId9"/>
    <p:sldId id="726" r:id="rId10"/>
    <p:sldId id="727" r:id="rId11"/>
    <p:sldId id="720" r:id="rId12"/>
    <p:sldId id="721" r:id="rId13"/>
    <p:sldId id="722" r:id="rId14"/>
    <p:sldId id="72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aparsec@gmail.com" initials="e" lastIdx="1" clrIdx="0">
    <p:extLst>
      <p:ext uri="{19B8F6BF-5375-455C-9EA6-DF929625EA0E}">
        <p15:presenceInfo xmlns:p15="http://schemas.microsoft.com/office/powerpoint/2012/main" userId="7611c2554c4bc0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F8CBAD"/>
    <a:srgbClr val="D8756C"/>
    <a:srgbClr val="81C4C5"/>
    <a:srgbClr val="0000FF"/>
    <a:srgbClr val="FF0505"/>
    <a:srgbClr val="FF0000"/>
    <a:srgbClr val="268DE2"/>
    <a:srgbClr val="1E49A8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FB696-1126-4A73-9BA9-65DA040723D1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D08D7-A37E-4377-BC90-83B3BD77F1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7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0FDC8-5F68-4AEB-84A8-168D9A9C8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A5E53-A9D2-4C8D-BCFA-7A55BF08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5F3BC-9B78-435D-84E3-B40DC4E9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54F13-1606-4596-849F-6BED800D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98905A-45BB-45E1-931A-02C24646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58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9BA77-D737-4E9D-84F6-6B16DBDC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ECF732-DD5F-4BE5-88C8-7C7AD609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5E5F-D570-49DA-A9D0-2A2BEBC1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296DE-B7F9-4B68-A927-42A5004D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549284-5CA4-49DB-8E72-81EBA840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D5DD1-EC63-4790-95FB-7EF76928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CFAEE-F94A-4BD2-A8FC-BCA88FAB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690E61-5189-4AD6-A987-EC5EB1AE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B234E-50ED-4AC4-9DDA-0545344B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A49AA-43BF-44E2-A7D2-579255CA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65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5078B-211E-4270-807F-8466208B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D79A58-39CE-4E82-A65F-D2A38D1D7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173515-1A4D-4A6F-9BD8-AF81B75E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27DE59-F585-4C0D-83A5-D14BBDB1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692B2-2F72-4DB3-8378-8DAE6C96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7D9A28-255E-4F60-AF86-74ADB8AB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77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C6C45-2EF4-4FB9-A31D-D450BEEC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29696-A519-4BDD-8D8E-45BC2801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1E0132-6142-480E-90D0-854173BC8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0BBC89-5143-4618-AAF1-397B9A629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B210B6-4939-45F9-A518-2398B9FD4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F74C4F-8C36-43FD-A42C-DB4CE7D3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42C0DC-FC90-4793-AF9D-C807EC72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FD207F-2991-492D-817B-57259653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97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1DD38-A59D-4BF0-AC2A-B1B607BF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D9B2EF-3E3C-492E-9F29-3F14F12E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944C2-7ECF-4290-BACA-E9975EC1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2746C-359B-475B-B69E-96796311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57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BCCFB-9FCE-4F08-BED7-BE63E985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27ED13-9E6F-45EF-8DBB-D3FD878F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7D20B-3C5D-42C5-A407-E262DCDE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94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CF960-050E-4751-8AF2-66E14861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A393F-7722-49CA-86D5-3F5E0708C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C907-624A-45B2-93F3-84CE1B503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8B6DD-A90A-4EBB-97DE-00516A95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C753B-082E-4205-8BDB-F9F33059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47A33C-1686-41E8-AD2F-7B546576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38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EE876-4572-4AD8-9E32-CF7F05B2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35E8CA-D3EB-476B-9992-B4EF2093A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61D18-701E-437D-90A3-C09785C90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8B7C98-B035-4374-885E-E4388902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B46A4-45CB-4C9A-9A4B-B8FC46D9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CBFB94-BF6D-45F4-B92D-CB27B2A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63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AD22B-93DC-4B83-83D4-56F18932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4D4CAD-0A4E-42B2-BB60-CD2AC8C3A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8900F-A74F-4BC1-A6B8-7C0A3BD8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5F1E6-21B7-43D6-90F5-2A37CA8C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C9193-C8B8-4591-91C5-E06B1FBC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63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BA2100-E201-4202-9646-A4410495B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9134-FDAD-4B19-8BF6-31E94F1D8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C9DA1-9BB1-49C9-BF25-0B3A5B62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442D1-9B7E-44AA-94D8-4E07CF8F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5D5AA-6480-4F9F-A0DA-5D2B3593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4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987BE0-F9C8-4FF5-B7F3-B154542E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84181-E2B5-4160-B6EE-58F8E179F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25C04-1E07-490F-8A87-49E10F8B9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913E7-5088-4C61-A188-9AD1EB86D5D3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79D86-B63B-4988-B4D5-2657C0B28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65D15-6FC0-4FF3-B4BD-C4AF1DF56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BB642-71B5-4A5A-9DC4-BFE4ED8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11" Type="http://schemas.openxmlformats.org/officeDocument/2006/relationships/image" Target="../media/image30.png"/><Relationship Id="rId5" Type="http://schemas.openxmlformats.org/officeDocument/2006/relationships/image" Target="../media/image20.png"/><Relationship Id="rId10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42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12" Type="http://schemas.openxmlformats.org/officeDocument/2006/relationships/image" Target="../media/image410.png"/><Relationship Id="rId2" Type="http://schemas.openxmlformats.org/officeDocument/2006/relationships/image" Target="../media/image310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11" Type="http://schemas.openxmlformats.org/officeDocument/2006/relationships/image" Target="../media/image400.png"/><Relationship Id="rId5" Type="http://schemas.openxmlformats.org/officeDocument/2006/relationships/image" Target="../media/image340.png"/><Relationship Id="rId15" Type="http://schemas.openxmlformats.org/officeDocument/2006/relationships/image" Target="../media/image440.png"/><Relationship Id="rId10" Type="http://schemas.openxmlformats.org/officeDocument/2006/relationships/image" Target="../media/image390.png"/><Relationship Id="rId4" Type="http://schemas.openxmlformats.org/officeDocument/2006/relationships/image" Target="../media/image330.png"/><Relationship Id="rId9" Type="http://schemas.openxmlformats.org/officeDocument/2006/relationships/image" Target="../media/image380.png"/><Relationship Id="rId14" Type="http://schemas.openxmlformats.org/officeDocument/2006/relationships/image" Target="../media/image4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420.png"/><Relationship Id="rId18" Type="http://schemas.openxmlformats.org/officeDocument/2006/relationships/image" Target="../media/image48.png"/><Relationship Id="rId26" Type="http://schemas.openxmlformats.org/officeDocument/2006/relationships/image" Target="../media/image55.png"/><Relationship Id="rId3" Type="http://schemas.openxmlformats.org/officeDocument/2006/relationships/image" Target="../media/image320.png"/><Relationship Id="rId21" Type="http://schemas.openxmlformats.org/officeDocument/2006/relationships/image" Target="../media/image51.png"/><Relationship Id="rId7" Type="http://schemas.openxmlformats.org/officeDocument/2006/relationships/image" Target="../media/image360.png"/><Relationship Id="rId12" Type="http://schemas.openxmlformats.org/officeDocument/2006/relationships/image" Target="../media/image410.png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2" Type="http://schemas.openxmlformats.org/officeDocument/2006/relationships/image" Target="../media/image310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11" Type="http://schemas.openxmlformats.org/officeDocument/2006/relationships/image" Target="../media/image400.png"/><Relationship Id="rId24" Type="http://schemas.openxmlformats.org/officeDocument/2006/relationships/image" Target="../media/image53.png"/><Relationship Id="rId5" Type="http://schemas.openxmlformats.org/officeDocument/2006/relationships/image" Target="../media/image340.png"/><Relationship Id="rId15" Type="http://schemas.openxmlformats.org/officeDocument/2006/relationships/image" Target="../media/image440.png"/><Relationship Id="rId23" Type="http://schemas.openxmlformats.org/officeDocument/2006/relationships/image" Target="../media/image45.png"/><Relationship Id="rId10" Type="http://schemas.openxmlformats.org/officeDocument/2006/relationships/image" Target="../media/image390.png"/><Relationship Id="rId19" Type="http://schemas.openxmlformats.org/officeDocument/2006/relationships/image" Target="../media/image49.png"/><Relationship Id="rId4" Type="http://schemas.openxmlformats.org/officeDocument/2006/relationships/image" Target="../media/image330.png"/><Relationship Id="rId9" Type="http://schemas.openxmlformats.org/officeDocument/2006/relationships/image" Target="../media/image380.png"/><Relationship Id="rId14" Type="http://schemas.openxmlformats.org/officeDocument/2006/relationships/image" Target="../media/image430.png"/><Relationship Id="rId22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1702" y="5207149"/>
            <a:ext cx="110600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동기화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여러 개의 진동자가 서로간의 상호작용을 통해 동질적으로 진동하는 현상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서로 다른 속도로 도는 시계들이 자신과 연결된 시계를 보면서 속도를 조절하는 시스템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?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반딧불이의 동기화 현상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콘서트장에서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박수의 동기화 등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34131"/>
            <a:ext cx="12192002" cy="677581"/>
            <a:chOff x="0" y="34131"/>
            <a:chExt cx="13049258" cy="677581"/>
          </a:xfrm>
        </p:grpSpPr>
        <p:sp>
          <p:nvSpPr>
            <p:cNvPr id="18" name="Shape 177">
              <a:extLst>
                <a:ext uri="{FF2B5EF4-FFF2-40B4-BE49-F238E27FC236}">
                  <a16:creationId xmlns:a16="http://schemas.microsoft.com/office/drawing/2014/main" id="{BB7E23ED-4F33-428B-A3FB-3E81E97E8467}"/>
                </a:ext>
              </a:extLst>
            </p:cNvPr>
            <p:cNvSpPr txBox="1"/>
            <p:nvPr/>
          </p:nvSpPr>
          <p:spPr>
            <a:xfrm>
              <a:off x="144858" y="98010"/>
              <a:ext cx="266965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Synchronization</a:t>
              </a:r>
            </a:p>
          </p:txBody>
        </p:sp>
        <p:sp>
          <p:nvSpPr>
            <p:cNvPr id="19" name="Shape 178">
              <a:extLst>
                <a:ext uri="{FF2B5EF4-FFF2-40B4-BE49-F238E27FC236}">
                  <a16:creationId xmlns:a16="http://schemas.microsoft.com/office/drawing/2014/main" id="{BFEF3A8A-9473-4C5D-A56F-F6353BF8B478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61" y="1388197"/>
            <a:ext cx="5242178" cy="303372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418" y="3033186"/>
            <a:ext cx="3206187" cy="21361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835" y="896958"/>
            <a:ext cx="3271778" cy="184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3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4695" y="5519172"/>
            <a:ext cx="110600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Kuramoto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model: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동기화에 대한 가장 간단한 모델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모두가 서로의 눈치를 보며 박수를 치는 상태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사람들의 배치와 눈치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(K)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크기에 따라 동기화와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비동기화가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갈린다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A98521-34DE-4E8E-AF7E-753635D7202A}"/>
                  </a:ext>
                </a:extLst>
              </p:cNvPr>
              <p:cNvSpPr txBox="1"/>
              <p:nvPr/>
            </p:nvSpPr>
            <p:spPr>
              <a:xfrm>
                <a:off x="1132073" y="2660871"/>
                <a:ext cx="4791166" cy="8097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ko-KR" altLang="en-US" sz="2000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ko-KR" altLang="en-US" sz="16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A98521-34DE-4E8E-AF7E-753635D7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073" y="2660871"/>
                <a:ext cx="4791166" cy="80970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34131"/>
            <a:ext cx="12192002" cy="677581"/>
            <a:chOff x="0" y="34131"/>
            <a:chExt cx="13049258" cy="677581"/>
          </a:xfrm>
        </p:grpSpPr>
        <p:sp>
          <p:nvSpPr>
            <p:cNvPr id="18" name="Shape 177">
              <a:extLst>
                <a:ext uri="{FF2B5EF4-FFF2-40B4-BE49-F238E27FC236}">
                  <a16:creationId xmlns:a16="http://schemas.microsoft.com/office/drawing/2014/main" id="{BB7E23ED-4F33-428B-A3FB-3E81E97E8467}"/>
                </a:ext>
              </a:extLst>
            </p:cNvPr>
            <p:cNvSpPr txBox="1"/>
            <p:nvPr/>
          </p:nvSpPr>
          <p:spPr>
            <a:xfrm>
              <a:off x="116553" y="98010"/>
              <a:ext cx="272627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 err="1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Kuramoto</a:t>
              </a:r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 model</a:t>
              </a:r>
            </a:p>
          </p:txBody>
        </p:sp>
        <p:sp>
          <p:nvSpPr>
            <p:cNvPr id="19" name="Shape 178">
              <a:extLst>
                <a:ext uri="{FF2B5EF4-FFF2-40B4-BE49-F238E27FC236}">
                  <a16:creationId xmlns:a16="http://schemas.microsoft.com/office/drawing/2014/main" id="{BFEF3A8A-9473-4C5D-A56F-F6353BF8B478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7" name="Shape 1082">
            <a:extLst>
              <a:ext uri="{FF2B5EF4-FFF2-40B4-BE49-F238E27FC236}">
                <a16:creationId xmlns:a16="http://schemas.microsoft.com/office/drawing/2014/main" id="{CDAA515B-99F3-4969-BF27-A462172B8AB2}"/>
              </a:ext>
            </a:extLst>
          </p:cNvPr>
          <p:cNvSpPr/>
          <p:nvPr/>
        </p:nvSpPr>
        <p:spPr>
          <a:xfrm rot="5400000" flipH="1" flipV="1">
            <a:off x="1851700" y="3883117"/>
            <a:ext cx="1388471" cy="229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8" name="Shape 1082">
            <a:extLst>
              <a:ext uri="{FF2B5EF4-FFF2-40B4-BE49-F238E27FC236}">
                <a16:creationId xmlns:a16="http://schemas.microsoft.com/office/drawing/2014/main" id="{D57CFD6C-934F-405D-AD75-EAEFCEDF8E2C}"/>
              </a:ext>
            </a:extLst>
          </p:cNvPr>
          <p:cNvSpPr/>
          <p:nvPr/>
        </p:nvSpPr>
        <p:spPr>
          <a:xfrm rot="5400000" flipH="1">
            <a:off x="3775030" y="3908914"/>
            <a:ext cx="1466723" cy="32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900800-7BE4-403F-AB86-5EA6B90E4714}"/>
              </a:ext>
            </a:extLst>
          </p:cNvPr>
          <p:cNvSpPr txBox="1"/>
          <p:nvPr/>
        </p:nvSpPr>
        <p:spPr>
          <a:xfrm>
            <a:off x="969804" y="4564542"/>
            <a:ext cx="1548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고유진동수</a:t>
            </a:r>
            <a:endParaRPr lang="en-US" altLang="ko-KR" sz="1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내가 원하는 속도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B39C2-3CBD-4DBD-AD5A-14A2753F69DD}"/>
              </a:ext>
            </a:extLst>
          </p:cNvPr>
          <p:cNvSpPr txBox="1"/>
          <p:nvPr/>
        </p:nvSpPr>
        <p:spPr>
          <a:xfrm>
            <a:off x="4673105" y="4598070"/>
            <a:ext cx="1857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주변 </a:t>
            </a:r>
            <a:r>
              <a:rPr lang="ko-KR" altLang="en-US" sz="1200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노드들과의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상호작용</a:t>
            </a:r>
            <a:endParaRPr lang="en-US" altLang="ko-KR" sz="1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내 </a:t>
            </a:r>
            <a:r>
              <a:rPr lang="ko-KR" altLang="en-US" sz="1200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옆사람과의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속도 차이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</a:t>
            </a:r>
          </a:p>
        </p:txBody>
      </p:sp>
      <p:sp>
        <p:nvSpPr>
          <p:cNvPr id="32" name="Shape 1082">
            <a:extLst>
              <a:ext uri="{FF2B5EF4-FFF2-40B4-BE49-F238E27FC236}">
                <a16:creationId xmlns:a16="http://schemas.microsoft.com/office/drawing/2014/main" id="{CDB26BF4-2EE9-47DE-9DBA-EF3A61F6ADF8}"/>
              </a:ext>
            </a:extLst>
          </p:cNvPr>
          <p:cNvSpPr/>
          <p:nvPr/>
        </p:nvSpPr>
        <p:spPr>
          <a:xfrm rot="5400000">
            <a:off x="3482683" y="2248058"/>
            <a:ext cx="781753" cy="32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3" name="Shape 1082">
            <a:extLst>
              <a:ext uri="{FF2B5EF4-FFF2-40B4-BE49-F238E27FC236}">
                <a16:creationId xmlns:a16="http://schemas.microsoft.com/office/drawing/2014/main" id="{36319CBF-EC3A-432C-A00E-01392C0F05CA}"/>
              </a:ext>
            </a:extLst>
          </p:cNvPr>
          <p:cNvSpPr/>
          <p:nvPr/>
        </p:nvSpPr>
        <p:spPr>
          <a:xfrm rot="5400000" flipV="1">
            <a:off x="1445841" y="1961808"/>
            <a:ext cx="781753" cy="4241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 lim="400000"/>
            <a:tailEnd type="oval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BD3F73-CE2D-43B8-95C5-4150CF175762}"/>
              </a:ext>
            </a:extLst>
          </p:cNvPr>
          <p:cNvSpPr txBox="1"/>
          <p:nvPr/>
        </p:nvSpPr>
        <p:spPr>
          <a:xfrm>
            <a:off x="44132" y="1629121"/>
            <a:ext cx="1523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노드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sz="1200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i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의 각속도</a:t>
            </a:r>
            <a:endParaRPr lang="en-US" altLang="ko-KR" sz="1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내가 박수치는 속도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3974829" y="1838332"/>
            <a:ext cx="125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상호작용 세기</a:t>
            </a:r>
            <a:endParaRPr lang="en-US" altLang="ko-KR" sz="1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눈치</a:t>
            </a:r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10813326" y="2146108"/>
            <a:ext cx="670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동기화</a:t>
            </a:r>
            <a:endParaRPr lang="en-US" altLang="ko-KR" sz="14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5509696" y="3080724"/>
            <a:ext cx="266398" cy="266398"/>
          </a:xfrm>
          <a:prstGeom prst="ellipse">
            <a:avLst/>
          </a:prstGeom>
          <a:solidFill>
            <a:srgbClr val="81C4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C965E5FB-1E55-477E-9B5F-EB09492E5B49}"/>
              </a:ext>
            </a:extLst>
          </p:cNvPr>
          <p:cNvSpPr/>
          <p:nvPr/>
        </p:nvSpPr>
        <p:spPr>
          <a:xfrm>
            <a:off x="6134831" y="3080724"/>
            <a:ext cx="266398" cy="266398"/>
          </a:xfrm>
          <a:prstGeom prst="ellipse">
            <a:avLst/>
          </a:prstGeom>
          <a:solidFill>
            <a:srgbClr val="D8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>
            <a:stCxn id="39" idx="6"/>
            <a:endCxn id="40" idx="2"/>
          </p:cNvCxnSpPr>
          <p:nvPr/>
        </p:nvCxnSpPr>
        <p:spPr>
          <a:xfrm>
            <a:off x="5776094" y="3213923"/>
            <a:ext cx="3587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>
            <a:stCxn id="40" idx="6"/>
            <a:endCxn id="41" idx="2"/>
          </p:cNvCxnSpPr>
          <p:nvPr/>
        </p:nvCxnSpPr>
        <p:spPr>
          <a:xfrm>
            <a:off x="6401229" y="3213923"/>
            <a:ext cx="382849" cy="1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6784078" y="3082522"/>
            <a:ext cx="266398" cy="26639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8727647" y="1443954"/>
            <a:ext cx="1762290" cy="1858479"/>
            <a:chOff x="8401227" y="1318520"/>
            <a:chExt cx="1939031" cy="2044867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7A0B471-1CAE-4B64-96B6-920041AE6279}"/>
                </a:ext>
              </a:extLst>
            </p:cNvPr>
            <p:cNvSpPr/>
            <p:nvPr/>
          </p:nvSpPr>
          <p:spPr>
            <a:xfrm>
              <a:off x="8401227" y="1318520"/>
              <a:ext cx="1939031" cy="193903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C0EB0E7-8169-41F5-875E-E219A1C79F44}"/>
                </a:ext>
              </a:extLst>
            </p:cNvPr>
            <p:cNvSpPr/>
            <p:nvPr/>
          </p:nvSpPr>
          <p:spPr>
            <a:xfrm>
              <a:off x="9124616" y="3152922"/>
              <a:ext cx="165430" cy="165430"/>
            </a:xfrm>
            <a:prstGeom prst="ellipse">
              <a:avLst/>
            </a:prstGeom>
            <a:solidFill>
              <a:srgbClr val="81C4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965E5FB-1E55-477E-9B5F-EB09492E5B49}"/>
                </a:ext>
              </a:extLst>
            </p:cNvPr>
            <p:cNvSpPr/>
            <p:nvPr/>
          </p:nvSpPr>
          <p:spPr>
            <a:xfrm>
              <a:off x="9205312" y="3174836"/>
              <a:ext cx="165430" cy="165430"/>
            </a:xfrm>
            <a:prstGeom prst="ellipse">
              <a:avLst/>
            </a:prstGeom>
            <a:solidFill>
              <a:srgbClr val="D87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9288027" y="3197957"/>
              <a:ext cx="165430" cy="16543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위로 구부러진 화살표 13"/>
            <p:cNvSpPr/>
            <p:nvPr/>
          </p:nvSpPr>
          <p:spPr>
            <a:xfrm flipH="1">
              <a:off x="8897543" y="2853696"/>
              <a:ext cx="846685" cy="238425"/>
            </a:xfrm>
            <a:prstGeom prst="curvedUp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화살표: 오른쪽 43">
            <a:extLst>
              <a:ext uri="{FF2B5EF4-FFF2-40B4-BE49-F238E27FC236}">
                <a16:creationId xmlns:a16="http://schemas.microsoft.com/office/drawing/2014/main" id="{B465E4FD-3D7C-4B17-9191-1C1B34F93759}"/>
              </a:ext>
            </a:extLst>
          </p:cNvPr>
          <p:cNvSpPr/>
          <p:nvPr/>
        </p:nvSpPr>
        <p:spPr>
          <a:xfrm rot="1312384">
            <a:off x="7111562" y="3581414"/>
            <a:ext cx="1367434" cy="37705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4">
            <a:extLst>
              <a:ext uri="{FF2B5EF4-FFF2-40B4-BE49-F238E27FC236}">
                <a16:creationId xmlns:a16="http://schemas.microsoft.com/office/drawing/2014/main" id="{2320CBF6-625A-4600-86B4-A6222788767B}"/>
              </a:ext>
            </a:extLst>
          </p:cNvPr>
          <p:cNvSpPr/>
          <p:nvPr/>
        </p:nvSpPr>
        <p:spPr>
          <a:xfrm rot="20829464">
            <a:off x="7202325" y="2627368"/>
            <a:ext cx="1300087" cy="37705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7A0B471-1CAE-4B64-96B6-920041AE6279}"/>
              </a:ext>
            </a:extLst>
          </p:cNvPr>
          <p:cNvSpPr/>
          <p:nvPr/>
        </p:nvSpPr>
        <p:spPr>
          <a:xfrm>
            <a:off x="8727647" y="3588735"/>
            <a:ext cx="1762290" cy="17622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8652471" y="4352689"/>
            <a:ext cx="150351" cy="150351"/>
          </a:xfrm>
          <a:prstGeom prst="ellipse">
            <a:avLst/>
          </a:prstGeom>
          <a:solidFill>
            <a:srgbClr val="81C4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965E5FB-1E55-477E-9B5F-EB09492E5B49}"/>
              </a:ext>
            </a:extLst>
          </p:cNvPr>
          <p:cNvSpPr/>
          <p:nvPr/>
        </p:nvSpPr>
        <p:spPr>
          <a:xfrm>
            <a:off x="9087241" y="5146512"/>
            <a:ext cx="150351" cy="150351"/>
          </a:xfrm>
          <a:prstGeom prst="ellipse">
            <a:avLst/>
          </a:prstGeom>
          <a:solidFill>
            <a:srgbClr val="D8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414762" y="4529018"/>
            <a:ext cx="150351" cy="15035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위로 구부러진 화살표 49"/>
          <p:cNvSpPr/>
          <p:nvPr/>
        </p:nvSpPr>
        <p:spPr>
          <a:xfrm rot="17449939" flipH="1">
            <a:off x="10142755" y="4508209"/>
            <a:ext cx="371199" cy="122179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위로 구부러진 화살표 51"/>
          <p:cNvSpPr/>
          <p:nvPr/>
        </p:nvSpPr>
        <p:spPr>
          <a:xfrm rot="2105733" flipH="1">
            <a:off x="8973562" y="4997896"/>
            <a:ext cx="573492" cy="154711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위로 구부러진 화살표 52"/>
          <p:cNvSpPr/>
          <p:nvPr/>
        </p:nvSpPr>
        <p:spPr>
          <a:xfrm rot="5400000">
            <a:off x="8617800" y="4354732"/>
            <a:ext cx="596965" cy="154711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10760700" y="4340988"/>
            <a:ext cx="829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비동기화</a:t>
            </a:r>
            <a:endParaRPr lang="en-US" altLang="ko-KR" sz="14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802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4695" y="5519172"/>
            <a:ext cx="1106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동기화가 얼마나 잘 됐는지를 표현하는 변수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(0~1)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이 클수록 동기화가 잘 된 상태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grpSp>
        <p:nvGrpSpPr>
          <p:cNvPr id="17" name="Group 181">
            <a:extLst>
              <a:ext uri="{FF2B5EF4-FFF2-40B4-BE49-F238E27FC236}">
                <a16:creationId xmlns:a16="http://schemas.microsoft.com/office/drawing/2014/main" id="{A0684FE0-0D4F-4C7D-85E5-1CC8208999D4}"/>
              </a:ext>
            </a:extLst>
          </p:cNvPr>
          <p:cNvGrpSpPr/>
          <p:nvPr/>
        </p:nvGrpSpPr>
        <p:grpSpPr>
          <a:xfrm>
            <a:off x="-1" y="34131"/>
            <a:ext cx="12192002" cy="677581"/>
            <a:chOff x="0" y="34131"/>
            <a:chExt cx="13049258" cy="677581"/>
          </a:xfrm>
        </p:grpSpPr>
        <p:sp>
          <p:nvSpPr>
            <p:cNvPr id="18" name="Shape 177">
              <a:extLst>
                <a:ext uri="{FF2B5EF4-FFF2-40B4-BE49-F238E27FC236}">
                  <a16:creationId xmlns:a16="http://schemas.microsoft.com/office/drawing/2014/main" id="{BB7E23ED-4F33-428B-A3FB-3E81E97E8467}"/>
                </a:ext>
              </a:extLst>
            </p:cNvPr>
            <p:cNvSpPr txBox="1"/>
            <p:nvPr/>
          </p:nvSpPr>
          <p:spPr>
            <a:xfrm>
              <a:off x="116553" y="98010"/>
              <a:ext cx="272627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 err="1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Kuramoto</a:t>
              </a:r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 model</a:t>
              </a:r>
            </a:p>
          </p:txBody>
        </p:sp>
        <p:sp>
          <p:nvSpPr>
            <p:cNvPr id="19" name="Shape 178">
              <a:extLst>
                <a:ext uri="{FF2B5EF4-FFF2-40B4-BE49-F238E27FC236}">
                  <a16:creationId xmlns:a16="http://schemas.microsoft.com/office/drawing/2014/main" id="{BFEF3A8A-9473-4C5D-A56F-F6353BF8B478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0" name="Shape 179">
              <a:extLst>
                <a:ext uri="{FF2B5EF4-FFF2-40B4-BE49-F238E27FC236}">
                  <a16:creationId xmlns:a16="http://schemas.microsoft.com/office/drawing/2014/main" id="{544466F9-A28F-49D6-90D4-BAC836F854D9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21" name="Shape 180">
              <a:extLst>
                <a:ext uri="{FF2B5EF4-FFF2-40B4-BE49-F238E27FC236}">
                  <a16:creationId xmlns:a16="http://schemas.microsoft.com/office/drawing/2014/main" id="{38795B53-14BA-45DC-A77F-20D6388008CC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7348636" y="2325099"/>
            <a:ext cx="776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r=0.95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8727647" y="1443954"/>
            <a:ext cx="1762290" cy="1858479"/>
            <a:chOff x="8401227" y="1318520"/>
            <a:chExt cx="1939031" cy="2044867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7A0B471-1CAE-4B64-96B6-920041AE6279}"/>
                </a:ext>
              </a:extLst>
            </p:cNvPr>
            <p:cNvSpPr/>
            <p:nvPr/>
          </p:nvSpPr>
          <p:spPr>
            <a:xfrm>
              <a:off x="8401227" y="1318520"/>
              <a:ext cx="1939031" cy="193903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C0EB0E7-8169-41F5-875E-E219A1C79F44}"/>
                </a:ext>
              </a:extLst>
            </p:cNvPr>
            <p:cNvSpPr/>
            <p:nvPr/>
          </p:nvSpPr>
          <p:spPr>
            <a:xfrm>
              <a:off x="9124616" y="3152922"/>
              <a:ext cx="165430" cy="165430"/>
            </a:xfrm>
            <a:prstGeom prst="ellipse">
              <a:avLst/>
            </a:prstGeom>
            <a:solidFill>
              <a:srgbClr val="81C4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965E5FB-1E55-477E-9B5F-EB09492E5B49}"/>
                </a:ext>
              </a:extLst>
            </p:cNvPr>
            <p:cNvSpPr/>
            <p:nvPr/>
          </p:nvSpPr>
          <p:spPr>
            <a:xfrm>
              <a:off x="9205312" y="3174836"/>
              <a:ext cx="165430" cy="165430"/>
            </a:xfrm>
            <a:prstGeom prst="ellipse">
              <a:avLst/>
            </a:prstGeom>
            <a:solidFill>
              <a:srgbClr val="D87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9288027" y="3197957"/>
              <a:ext cx="165430" cy="16543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위로 구부러진 화살표 13"/>
            <p:cNvSpPr/>
            <p:nvPr/>
          </p:nvSpPr>
          <p:spPr>
            <a:xfrm flipH="1">
              <a:off x="8897543" y="2853696"/>
              <a:ext cx="846685" cy="238425"/>
            </a:xfrm>
            <a:prstGeom prst="curvedUp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화살표: 오른쪽 43">
            <a:extLst>
              <a:ext uri="{FF2B5EF4-FFF2-40B4-BE49-F238E27FC236}">
                <a16:creationId xmlns:a16="http://schemas.microsoft.com/office/drawing/2014/main" id="{B465E4FD-3D7C-4B17-9191-1C1B34F93759}"/>
              </a:ext>
            </a:extLst>
          </p:cNvPr>
          <p:cNvSpPr/>
          <p:nvPr/>
        </p:nvSpPr>
        <p:spPr>
          <a:xfrm rot="1312384">
            <a:off x="7111562" y="3581414"/>
            <a:ext cx="1367434" cy="37705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4">
            <a:extLst>
              <a:ext uri="{FF2B5EF4-FFF2-40B4-BE49-F238E27FC236}">
                <a16:creationId xmlns:a16="http://schemas.microsoft.com/office/drawing/2014/main" id="{2320CBF6-625A-4600-86B4-A6222788767B}"/>
              </a:ext>
            </a:extLst>
          </p:cNvPr>
          <p:cNvSpPr/>
          <p:nvPr/>
        </p:nvSpPr>
        <p:spPr>
          <a:xfrm rot="20829464">
            <a:off x="7202325" y="2627368"/>
            <a:ext cx="1300087" cy="37705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7A0B471-1CAE-4B64-96B6-920041AE6279}"/>
              </a:ext>
            </a:extLst>
          </p:cNvPr>
          <p:cNvSpPr/>
          <p:nvPr/>
        </p:nvSpPr>
        <p:spPr>
          <a:xfrm>
            <a:off x="8727647" y="3588735"/>
            <a:ext cx="1762290" cy="17622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8652471" y="4352689"/>
            <a:ext cx="150351" cy="150351"/>
          </a:xfrm>
          <a:prstGeom prst="ellipse">
            <a:avLst/>
          </a:prstGeom>
          <a:solidFill>
            <a:srgbClr val="81C4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965E5FB-1E55-477E-9B5F-EB09492E5B49}"/>
              </a:ext>
            </a:extLst>
          </p:cNvPr>
          <p:cNvSpPr/>
          <p:nvPr/>
        </p:nvSpPr>
        <p:spPr>
          <a:xfrm>
            <a:off x="9087241" y="5146512"/>
            <a:ext cx="150351" cy="150351"/>
          </a:xfrm>
          <a:prstGeom prst="ellipse">
            <a:avLst/>
          </a:prstGeom>
          <a:solidFill>
            <a:srgbClr val="D8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414762" y="4529018"/>
            <a:ext cx="150351" cy="15035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위로 구부러진 화살표 49"/>
          <p:cNvSpPr/>
          <p:nvPr/>
        </p:nvSpPr>
        <p:spPr>
          <a:xfrm rot="17449939" flipH="1">
            <a:off x="10142755" y="4508209"/>
            <a:ext cx="371199" cy="122179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위로 구부러진 화살표 51"/>
          <p:cNvSpPr/>
          <p:nvPr/>
        </p:nvSpPr>
        <p:spPr>
          <a:xfrm rot="2105733" flipH="1">
            <a:off x="8973562" y="4997896"/>
            <a:ext cx="573492" cy="154711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위로 구부러진 화살표 52"/>
          <p:cNvSpPr/>
          <p:nvPr/>
        </p:nvSpPr>
        <p:spPr>
          <a:xfrm rot="5400000">
            <a:off x="8617800" y="4354732"/>
            <a:ext cx="596965" cy="154711"/>
          </a:xfrm>
          <a:prstGeom prst="curved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7293478" y="3976883"/>
            <a:ext cx="829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r=0.2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10813326" y="2146108"/>
            <a:ext cx="670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동기화</a:t>
            </a:r>
            <a:endParaRPr lang="en-US" altLang="ko-KR" sz="14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10760700" y="4340988"/>
            <a:ext cx="829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비동기화</a:t>
            </a:r>
            <a:endParaRPr lang="en-US" altLang="ko-KR" sz="14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6" y="2596507"/>
            <a:ext cx="3156727" cy="1329991"/>
          </a:xfrm>
          <a:prstGeom prst="rect">
            <a:avLst/>
          </a:prstGeom>
        </p:spPr>
      </p:pic>
      <p:sp>
        <p:nvSpPr>
          <p:cNvPr id="55" name="타원 54">
            <a:extLst>
              <a:ext uri="{FF2B5EF4-FFF2-40B4-BE49-F238E27FC236}">
                <a16:creationId xmlns:a16="http://schemas.microsoft.com/office/drawing/2014/main" id="{FC0EB0E7-8169-41F5-875E-E219A1C79F44}"/>
              </a:ext>
            </a:extLst>
          </p:cNvPr>
          <p:cNvSpPr/>
          <p:nvPr/>
        </p:nvSpPr>
        <p:spPr>
          <a:xfrm>
            <a:off x="5509696" y="3080724"/>
            <a:ext cx="266398" cy="266398"/>
          </a:xfrm>
          <a:prstGeom prst="ellipse">
            <a:avLst/>
          </a:prstGeom>
          <a:solidFill>
            <a:srgbClr val="81C4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965E5FB-1E55-477E-9B5F-EB09492E5B49}"/>
              </a:ext>
            </a:extLst>
          </p:cNvPr>
          <p:cNvSpPr/>
          <p:nvPr/>
        </p:nvSpPr>
        <p:spPr>
          <a:xfrm>
            <a:off x="6134831" y="3080724"/>
            <a:ext cx="266398" cy="266398"/>
          </a:xfrm>
          <a:prstGeom prst="ellipse">
            <a:avLst/>
          </a:prstGeom>
          <a:solidFill>
            <a:srgbClr val="D87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/>
          <p:cNvCxnSpPr>
            <a:stCxn id="55" idx="6"/>
            <a:endCxn id="56" idx="2"/>
          </p:cNvCxnSpPr>
          <p:nvPr/>
        </p:nvCxnSpPr>
        <p:spPr>
          <a:xfrm>
            <a:off x="5776094" y="3213923"/>
            <a:ext cx="3587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56" idx="6"/>
            <a:endCxn id="59" idx="2"/>
          </p:cNvCxnSpPr>
          <p:nvPr/>
        </p:nvCxnSpPr>
        <p:spPr>
          <a:xfrm>
            <a:off x="6401229" y="3213923"/>
            <a:ext cx="382849" cy="1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6784078" y="3082522"/>
            <a:ext cx="266398" cy="26639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80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문제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기존 네트워크에 새로운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노드가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들어왔을 때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새로운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고유 진동수를 어떻게 설정할까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원래 네트워크의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보존하거나 더 높게 만드는 방향으로 고유 진동수를 계산하기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연결정보와 기존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노드들의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진동수를 넣으면 새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진동수가 나오는 알고리즘 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8274914" y="1738783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8998332" y="2944479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445167" y="1221578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081181" y="2346690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6870109" y="1831069"/>
            <a:ext cx="517205" cy="51720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20" idx="6"/>
            <a:endCxn id="25" idx="2"/>
          </p:cNvCxnSpPr>
          <p:nvPr/>
        </p:nvCxnSpPr>
        <p:spPr>
          <a:xfrm flipV="1">
            <a:off x="8792119" y="1480181"/>
            <a:ext cx="1653048" cy="517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24" idx="6"/>
            <a:endCxn id="26" idx="3"/>
          </p:cNvCxnSpPr>
          <p:nvPr/>
        </p:nvCxnSpPr>
        <p:spPr>
          <a:xfrm flipV="1">
            <a:off x="9515537" y="2788152"/>
            <a:ext cx="641387" cy="414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20" idx="5"/>
            <a:endCxn id="26" idx="2"/>
          </p:cNvCxnSpPr>
          <p:nvPr/>
        </p:nvCxnSpPr>
        <p:spPr>
          <a:xfrm>
            <a:off x="8716376" y="2180245"/>
            <a:ext cx="1364805" cy="425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25" idx="4"/>
            <a:endCxn id="26" idx="7"/>
          </p:cNvCxnSpPr>
          <p:nvPr/>
        </p:nvCxnSpPr>
        <p:spPr>
          <a:xfrm flipH="1">
            <a:off x="10522643" y="1738783"/>
            <a:ext cx="181127" cy="683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31" idx="6"/>
          </p:cNvCxnSpPr>
          <p:nvPr/>
        </p:nvCxnSpPr>
        <p:spPr>
          <a:xfrm flipV="1">
            <a:off x="7387314" y="2039566"/>
            <a:ext cx="887600" cy="5010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0510607" y="1332482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607" y="1332482"/>
                <a:ext cx="386324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9375" r="-10938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0142504" y="2448864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504" y="2448864"/>
                <a:ext cx="3863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1111" r="-11111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8977210" y="3038867"/>
                <a:ext cx="559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−0.2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210" y="3038867"/>
                <a:ext cx="559449" cy="276999"/>
              </a:xfrm>
              <a:prstGeom prst="rect">
                <a:avLst/>
              </a:prstGeom>
              <a:blipFill rotWithShape="0">
                <a:blip r:embed="rId4"/>
                <a:stretch>
                  <a:fillRect r="-769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8328319" y="1858885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319" y="1858885"/>
                <a:ext cx="38632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9375" r="-10938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타원 49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28739" y="1648364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752157" y="2854060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3198992" y="1131159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2835006" y="2256271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/>
          <p:cNvCxnSpPr>
            <a:stCxn id="50" idx="6"/>
            <a:endCxn id="52" idx="2"/>
          </p:cNvCxnSpPr>
          <p:nvPr/>
        </p:nvCxnSpPr>
        <p:spPr>
          <a:xfrm flipV="1">
            <a:off x="1545944" y="1389762"/>
            <a:ext cx="1653048" cy="517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>
            <a:stCxn id="51" idx="6"/>
            <a:endCxn id="53" idx="3"/>
          </p:cNvCxnSpPr>
          <p:nvPr/>
        </p:nvCxnSpPr>
        <p:spPr>
          <a:xfrm flipV="1">
            <a:off x="2269362" y="2697733"/>
            <a:ext cx="641387" cy="414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>
            <a:stCxn id="50" idx="5"/>
            <a:endCxn id="53" idx="2"/>
          </p:cNvCxnSpPr>
          <p:nvPr/>
        </p:nvCxnSpPr>
        <p:spPr>
          <a:xfrm>
            <a:off x="1470201" y="2089826"/>
            <a:ext cx="1364805" cy="425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52" idx="4"/>
            <a:endCxn id="53" idx="7"/>
          </p:cNvCxnSpPr>
          <p:nvPr/>
        </p:nvCxnSpPr>
        <p:spPr>
          <a:xfrm flipH="1">
            <a:off x="3276468" y="1648364"/>
            <a:ext cx="181127" cy="683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264432" y="1242063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432" y="1242063"/>
                <a:ext cx="386324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1111" r="-11111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896329" y="2358445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329" y="2358445"/>
                <a:ext cx="38632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524" r="-12698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731035" y="2948448"/>
                <a:ext cx="559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−0.2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035" y="2948448"/>
                <a:ext cx="559449" cy="276999"/>
              </a:xfrm>
              <a:prstGeom prst="rect">
                <a:avLst/>
              </a:prstGeom>
              <a:blipFill rotWithShape="0">
                <a:blip r:embed="rId8"/>
                <a:stretch>
                  <a:fillRect r="-652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082144" y="1768466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44" y="1768466"/>
                <a:ext cx="386324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1111" r="-12698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화살표: 오른쪽 6">
            <a:extLst>
              <a:ext uri="{FF2B5EF4-FFF2-40B4-BE49-F238E27FC236}">
                <a16:creationId xmlns:a16="http://schemas.microsoft.com/office/drawing/2014/main" id="{868141C8-718D-406B-A81F-B21913FA8847}"/>
              </a:ext>
            </a:extLst>
          </p:cNvPr>
          <p:cNvSpPr/>
          <p:nvPr/>
        </p:nvSpPr>
        <p:spPr>
          <a:xfrm>
            <a:off x="4927616" y="2024255"/>
            <a:ext cx="892628" cy="6746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1667752" y="3638062"/>
            <a:ext cx="7767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r=0.4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8732366" y="3639582"/>
            <a:ext cx="5319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r=?</a:t>
            </a:r>
          </a:p>
        </p:txBody>
      </p:sp>
      <p:sp>
        <p:nvSpPr>
          <p:cNvPr id="69" name="모서리가 둥근 직사각형 68"/>
          <p:cNvSpPr/>
          <p:nvPr/>
        </p:nvSpPr>
        <p:spPr>
          <a:xfrm>
            <a:off x="4996405" y="4393149"/>
            <a:ext cx="1291576" cy="62503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오른쪽 화살표 69"/>
          <p:cNvSpPr/>
          <p:nvPr/>
        </p:nvSpPr>
        <p:spPr>
          <a:xfrm>
            <a:off x="4240192" y="4589809"/>
            <a:ext cx="594167" cy="29708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오른쪽 화살표 70"/>
          <p:cNvSpPr/>
          <p:nvPr/>
        </p:nvSpPr>
        <p:spPr>
          <a:xfrm>
            <a:off x="6450027" y="4589809"/>
            <a:ext cx="594167" cy="29708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4996405" y="4569074"/>
            <a:ext cx="1256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DD2B1CA-7C52-41B6-8000-97A90A646D07}"/>
                  </a:ext>
                </a:extLst>
              </p:cNvPr>
              <p:cNvSpPr txBox="1"/>
              <p:nvPr/>
            </p:nvSpPr>
            <p:spPr>
              <a:xfrm>
                <a:off x="2689348" y="4403370"/>
                <a:ext cx="1448467" cy="604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mbria Math" panose="02040503050406030204" pitchFamily="18" charset="0"/>
                    <a:ea typeface="서울남산체 B" panose="02020503020101020101" pitchFamily="18" charset="-127"/>
                  </a:rPr>
                  <a:t>Network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𝑖𝑗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서울남산체 B" panose="02020503020101020101" pitchFamily="18" charset="-127"/>
                      </a:rPr>
                      <m:t>)</m:t>
                    </m:r>
                  </m:oMath>
                </a14:m>
                <a:br>
                  <a:rPr lang="en-US" altLang="ko-KR" sz="1600" b="0" i="0" dirty="0">
                    <a:latin typeface="Cambria Math" panose="02040503050406030204" pitchFamily="18" charset="0"/>
                    <a:ea typeface="서울남산체 B" panose="02020503020101020101" pitchFamily="18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서울남산체 B" panose="02020503020101020101" pitchFamily="18" charset="-127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xmlns="" id="{ADD2B1CA-7C52-41B6-8000-97A90A646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348" y="4403370"/>
                <a:ext cx="1448467" cy="604589"/>
              </a:xfrm>
              <a:prstGeom prst="rect">
                <a:avLst/>
              </a:prstGeom>
              <a:blipFill rotWithShape="0">
                <a:blip r:embed="rId10"/>
                <a:stretch>
                  <a:fillRect t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D2B1CA-7C52-41B6-8000-97A90A646D07}"/>
                  </a:ext>
                </a:extLst>
              </p:cNvPr>
              <p:cNvSpPr txBox="1"/>
              <p:nvPr/>
            </p:nvSpPr>
            <p:spPr>
              <a:xfrm>
                <a:off x="6438390" y="1911331"/>
                <a:ext cx="1448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6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xmlns="" id="{ADD2B1CA-7C52-41B6-8000-97A90A646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390" y="1911331"/>
                <a:ext cx="1448467" cy="3385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DD2B1CA-7C52-41B6-8000-97A90A646D07}"/>
                  </a:ext>
                </a:extLst>
              </p:cNvPr>
              <p:cNvSpPr txBox="1"/>
              <p:nvPr/>
            </p:nvSpPr>
            <p:spPr>
              <a:xfrm>
                <a:off x="6989084" y="4517561"/>
                <a:ext cx="995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xmlns="" id="{ADD2B1CA-7C52-41B6-8000-97A90A646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084" y="4517561"/>
                <a:ext cx="995259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직선 연결선 46"/>
          <p:cNvCxnSpPr>
            <a:stCxn id="31" idx="5"/>
            <a:endCxn id="46" idx="1"/>
          </p:cNvCxnSpPr>
          <p:nvPr/>
        </p:nvCxnSpPr>
        <p:spPr>
          <a:xfrm>
            <a:off x="7311571" y="2272531"/>
            <a:ext cx="1665639" cy="90483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32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주어진 네트워크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30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)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40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개까지 성장시키면서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5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가지 방법으로 새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진동수를 부여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시작할 때의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과 끝날 때의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대조하기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을 가장 높일 수 있는 방법은 뭘까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1128190" y="2033751"/>
            <a:ext cx="44337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Global: 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모든 기존 </a:t>
            </a:r>
            <a:r>
              <a:rPr lang="ko-KR" altLang="en-US" sz="1600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진동수의 평균</a:t>
            </a:r>
            <a:endParaRPr lang="en-US" altLang="ko-KR" sz="1600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Local: 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인접한 </a:t>
            </a:r>
            <a:r>
              <a:rPr lang="ko-KR" altLang="en-US" sz="1600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빨간색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)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평균값</a:t>
            </a:r>
            <a:endParaRPr lang="en-US" altLang="ko-KR" sz="1600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Random: 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그냥 랜덤 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(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정규분포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7518702" y="2375390"/>
            <a:ext cx="517205" cy="5172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8242120" y="3581086"/>
            <a:ext cx="517205" cy="51720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9688955" y="1858185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9324969" y="2983297"/>
            <a:ext cx="517205" cy="5172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6113897" y="2467676"/>
            <a:ext cx="517205" cy="51720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>
            <a:stCxn id="15" idx="6"/>
            <a:endCxn id="17" idx="2"/>
          </p:cNvCxnSpPr>
          <p:nvPr/>
        </p:nvCxnSpPr>
        <p:spPr>
          <a:xfrm flipV="1">
            <a:off x="8035907" y="2116788"/>
            <a:ext cx="1653048" cy="517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8" idx="3"/>
          </p:cNvCxnSpPr>
          <p:nvPr/>
        </p:nvCxnSpPr>
        <p:spPr>
          <a:xfrm flipV="1">
            <a:off x="8759325" y="3424759"/>
            <a:ext cx="641387" cy="414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5" idx="5"/>
            <a:endCxn id="18" idx="2"/>
          </p:cNvCxnSpPr>
          <p:nvPr/>
        </p:nvCxnSpPr>
        <p:spPr>
          <a:xfrm>
            <a:off x="7960164" y="2816852"/>
            <a:ext cx="1364805" cy="425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7" idx="4"/>
            <a:endCxn id="18" idx="7"/>
          </p:cNvCxnSpPr>
          <p:nvPr/>
        </p:nvCxnSpPr>
        <p:spPr>
          <a:xfrm flipH="1">
            <a:off x="9766431" y="2375390"/>
            <a:ext cx="181127" cy="683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9" idx="6"/>
          </p:cNvCxnSpPr>
          <p:nvPr/>
        </p:nvCxnSpPr>
        <p:spPr>
          <a:xfrm flipV="1">
            <a:off x="6631102" y="2676173"/>
            <a:ext cx="887600" cy="5010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754395" y="1969089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395" y="1969089"/>
                <a:ext cx="386324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9375" r="-10938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386292" y="3085471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292" y="3085471"/>
                <a:ext cx="3863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1111" r="-11111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220998" y="3675474"/>
                <a:ext cx="559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−0.2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998" y="3675474"/>
                <a:ext cx="559449" cy="276999"/>
              </a:xfrm>
              <a:prstGeom prst="rect">
                <a:avLst/>
              </a:prstGeom>
              <a:blipFill rotWithShape="0">
                <a:blip r:embed="rId4"/>
                <a:stretch>
                  <a:fillRect r="-769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572107" y="2495492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107" y="2495492"/>
                <a:ext cx="38632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9375" r="-10938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57FE46E-21FD-4F96-B2BF-D421A6D763D0}"/>
              </a:ext>
            </a:extLst>
          </p:cNvPr>
          <p:cNvSpPr txBox="1"/>
          <p:nvPr/>
        </p:nvSpPr>
        <p:spPr>
          <a:xfrm>
            <a:off x="7976154" y="4276189"/>
            <a:ext cx="5319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r=?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D2B1CA-7C52-41B6-8000-97A90A646D07}"/>
                  </a:ext>
                </a:extLst>
              </p:cNvPr>
              <p:cNvSpPr txBox="1"/>
              <p:nvPr/>
            </p:nvSpPr>
            <p:spPr>
              <a:xfrm>
                <a:off x="5682178" y="2547938"/>
                <a:ext cx="1448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6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ADD2B1CA-7C52-41B6-8000-97A90A646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178" y="2547938"/>
                <a:ext cx="1448467" cy="3385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/>
          <p:cNvCxnSpPr>
            <a:stCxn id="19" idx="5"/>
            <a:endCxn id="27" idx="1"/>
          </p:cNvCxnSpPr>
          <p:nvPr/>
        </p:nvCxnSpPr>
        <p:spPr>
          <a:xfrm>
            <a:off x="6555359" y="2909138"/>
            <a:ext cx="1665639" cy="90483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35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7389FA3-6FF8-4CD7-B27E-E03B23A8042B}"/>
                  </a:ext>
                </a:extLst>
              </p:cNvPr>
              <p:cNvSpPr txBox="1"/>
              <p:nvPr/>
            </p:nvSpPr>
            <p:spPr>
              <a:xfrm>
                <a:off x="261545" y="5486315"/>
                <a:ext cx="11060054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SAF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와 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ALF: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기존 논문의 결과를 바탕으로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, growing network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에서 특정 조건을 이용해 새 </a:t>
                </a:r>
                <a:r>
                  <a:rPr lang="ko-KR" altLang="en-US" dirty="0" err="1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노드의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 진동수를 계산</a:t>
                </a:r>
                <a:endParaRPr lang="en-US" altLang="ko-KR" dirty="0">
                  <a:latin typeface="서울남산체 L" panose="02020503020101020101" pitchFamily="18" charset="-127"/>
                  <a:ea typeface="서울남산체 L" panose="020205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SAF: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근사적으로 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order parameter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를 최대화하는 새 </a:t>
                </a:r>
                <a:r>
                  <a:rPr lang="ko-KR" altLang="en-US" dirty="0" err="1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노드의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 진동수를 계산</a:t>
                </a:r>
                <a:endParaRPr lang="en-US" altLang="ko-KR" dirty="0">
                  <a:latin typeface="서울남산체 L" panose="02020503020101020101" pitchFamily="18" charset="-127"/>
                  <a:ea typeface="서울남산체 L" panose="020205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ALF: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근사적으로 서로간의 상호작용을 최소화하는 새 노드의 진동수를 계산</a:t>
                </a:r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 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멀리 있는 </a:t>
                </a:r>
                <a:r>
                  <a:rPr lang="ko-KR" altLang="en-US" dirty="0" err="1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노드를</a:t>
                </a:r>
                <a:r>
                  <a:rPr lang="ko-KR" altLang="en-US" dirty="0">
                    <a:latin typeface="서울남산체 L" panose="02020503020101020101" pitchFamily="18" charset="-127"/>
                    <a:ea typeface="서울남산체 L" panose="02020503020101020101" pitchFamily="18" charset="-127"/>
                  </a:rPr>
                  <a:t> 우선적으로 모방</a:t>
                </a:r>
                <a:endParaRPr lang="en-US" altLang="ko-KR" dirty="0">
                  <a:latin typeface="서울남산체 L" panose="02020503020101020101" pitchFamily="18" charset="-127"/>
                  <a:ea typeface="서울남산체 L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="" xmlns:a14="http://schemas.microsoft.com/office/drawing/2010/main" xmlns:a16="http://schemas.microsoft.com/office/drawing/2014/main" id="{57389FA3-6FF8-4CD7-B27E-E03B23A80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45" y="5486315"/>
                <a:ext cx="11060054" cy="1338828"/>
              </a:xfrm>
              <a:prstGeom prst="rect">
                <a:avLst/>
              </a:prstGeom>
              <a:blipFill rotWithShape="0">
                <a:blip r:embed="rId2"/>
                <a:stretch>
                  <a:fillRect l="-386" b="-4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그림 7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05" y="3897477"/>
            <a:ext cx="3838704" cy="813033"/>
          </a:xfrm>
          <a:prstGeom prst="rect">
            <a:avLst/>
          </a:prstGeom>
        </p:spPr>
      </p:pic>
      <p:pic>
        <p:nvPicPr>
          <p:cNvPr id="77" name="그림 7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96" y="2294849"/>
            <a:ext cx="3740613" cy="68406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558826" y="1726618"/>
            <a:ext cx="4433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SAF: order parameter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최대한 높이고 싶다</a:t>
            </a:r>
            <a:endParaRPr lang="en-US" altLang="ko-KR" sz="1600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425866" y="3487211"/>
            <a:ext cx="512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ALF: 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 전체의 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power loss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최대한 낮추고 싶다</a:t>
            </a:r>
            <a:endParaRPr lang="en-US" altLang="ko-KR" sz="1600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707" y="1332866"/>
            <a:ext cx="1905793" cy="164605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6224262" y="875500"/>
            <a:ext cx="4433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유도</a:t>
            </a:r>
            <a:r>
              <a:rPr lang="en-US" altLang="ko-KR" sz="16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</a:t>
            </a: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698" y="1512267"/>
            <a:ext cx="925840" cy="117722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8060786" y="3551175"/>
            <a:ext cx="517205" cy="517205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8784204" y="4756871"/>
            <a:ext cx="517205" cy="517205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10231039" y="3033970"/>
            <a:ext cx="517205" cy="517205"/>
          </a:xfrm>
          <a:prstGeom prst="ellipse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9867053" y="4159082"/>
            <a:ext cx="517205" cy="517205"/>
          </a:xfrm>
          <a:prstGeom prst="ellipse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A61F53B-10D0-44E5-907C-538C4D1891E9}"/>
              </a:ext>
            </a:extLst>
          </p:cNvPr>
          <p:cNvSpPr/>
          <p:nvPr/>
        </p:nvSpPr>
        <p:spPr>
          <a:xfrm>
            <a:off x="6655981" y="3643461"/>
            <a:ext cx="517205" cy="51720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>
            <a:stCxn id="15" idx="6"/>
            <a:endCxn id="17" idx="2"/>
          </p:cNvCxnSpPr>
          <p:nvPr/>
        </p:nvCxnSpPr>
        <p:spPr>
          <a:xfrm flipV="1">
            <a:off x="8577991" y="3292573"/>
            <a:ext cx="1653048" cy="517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8" idx="3"/>
          </p:cNvCxnSpPr>
          <p:nvPr/>
        </p:nvCxnSpPr>
        <p:spPr>
          <a:xfrm flipV="1">
            <a:off x="9301409" y="4600544"/>
            <a:ext cx="641387" cy="4149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5" idx="5"/>
            <a:endCxn id="18" idx="2"/>
          </p:cNvCxnSpPr>
          <p:nvPr/>
        </p:nvCxnSpPr>
        <p:spPr>
          <a:xfrm>
            <a:off x="8502248" y="3992637"/>
            <a:ext cx="1364805" cy="4250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7" idx="4"/>
            <a:endCxn id="18" idx="7"/>
          </p:cNvCxnSpPr>
          <p:nvPr/>
        </p:nvCxnSpPr>
        <p:spPr>
          <a:xfrm flipH="1">
            <a:off x="10308515" y="3551175"/>
            <a:ext cx="181127" cy="6836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9" idx="6"/>
          </p:cNvCxnSpPr>
          <p:nvPr/>
        </p:nvCxnSpPr>
        <p:spPr>
          <a:xfrm flipV="1">
            <a:off x="7173186" y="3851958"/>
            <a:ext cx="887600" cy="5010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296479" y="3144874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479" y="3144874"/>
                <a:ext cx="38632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524" r="-12698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928376" y="4261256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376" y="4261256"/>
                <a:ext cx="386324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1111" r="-11111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63082" y="4851259"/>
                <a:ext cx="559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−0.2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82" y="4851259"/>
                <a:ext cx="559449" cy="276999"/>
              </a:xfrm>
              <a:prstGeom prst="rect">
                <a:avLst/>
              </a:prstGeom>
              <a:blipFill rotWithShape="0">
                <a:blip r:embed="rId9"/>
                <a:stretch>
                  <a:fillRect r="-7692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114191" y="3671277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91" y="3671277"/>
                <a:ext cx="38632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9524" r="-12698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D2B1CA-7C52-41B6-8000-97A90A646D07}"/>
                  </a:ext>
                </a:extLst>
              </p:cNvPr>
              <p:cNvSpPr txBox="1"/>
              <p:nvPr/>
            </p:nvSpPr>
            <p:spPr>
              <a:xfrm>
                <a:off x="6224262" y="3723723"/>
                <a:ext cx="1448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6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DD2B1CA-7C52-41B6-8000-97A90A646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262" y="3723723"/>
                <a:ext cx="1448467" cy="3385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연결선 30"/>
          <p:cNvCxnSpPr>
            <a:stCxn id="19" idx="5"/>
            <a:endCxn id="27" idx="1"/>
          </p:cNvCxnSpPr>
          <p:nvPr/>
        </p:nvCxnSpPr>
        <p:spPr>
          <a:xfrm>
            <a:off x="7097443" y="4084923"/>
            <a:ext cx="1665639" cy="90483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화살표: 오른쪽 6">
            <a:extLst>
              <a:ext uri="{FF2B5EF4-FFF2-40B4-BE49-F238E27FC236}">
                <a16:creationId xmlns:a16="http://schemas.microsoft.com/office/drawing/2014/main" id="{868141C8-718D-406B-A81F-B21913FA8847}"/>
              </a:ext>
            </a:extLst>
          </p:cNvPr>
          <p:cNvSpPr/>
          <p:nvPr/>
        </p:nvSpPr>
        <p:spPr>
          <a:xfrm>
            <a:off x="5246148" y="3893000"/>
            <a:ext cx="892628" cy="6746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381532-278B-456D-8765-C5CE44C2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284817"/>
            <a:ext cx="11335080" cy="62883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25E558C-CD15-407A-995E-CBC402C81A92}"/>
              </a:ext>
            </a:extLst>
          </p:cNvPr>
          <p:cNvSpPr/>
          <p:nvPr/>
        </p:nvSpPr>
        <p:spPr>
          <a:xfrm>
            <a:off x="570451" y="2155970"/>
            <a:ext cx="5368955" cy="22314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1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B156C2-E0B7-4F38-BD1D-C62B03046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290265"/>
            <a:ext cx="11495314" cy="627746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150A38D-A833-40AC-B115-A5573090090C}"/>
              </a:ext>
            </a:extLst>
          </p:cNvPr>
          <p:cNvSpPr/>
          <p:nvPr/>
        </p:nvSpPr>
        <p:spPr>
          <a:xfrm>
            <a:off x="461394" y="2313264"/>
            <a:ext cx="5368955" cy="8242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33C7C1-0728-41C9-A306-9E80A2173009}"/>
              </a:ext>
            </a:extLst>
          </p:cNvPr>
          <p:cNvSpPr/>
          <p:nvPr/>
        </p:nvSpPr>
        <p:spPr>
          <a:xfrm>
            <a:off x="6474703" y="2313264"/>
            <a:ext cx="3281694" cy="8242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C563B9-2E24-467D-B587-7E400514408E}"/>
              </a:ext>
            </a:extLst>
          </p:cNvPr>
          <p:cNvSpPr/>
          <p:nvPr/>
        </p:nvSpPr>
        <p:spPr>
          <a:xfrm>
            <a:off x="4085239" y="5536034"/>
            <a:ext cx="4303752" cy="11835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8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4FA4C9D-8EF9-492F-8D74-72938359D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857"/>
            <a:ext cx="12192000" cy="666028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5CB9294-1582-4B0F-9D7E-3E780F66F668}"/>
              </a:ext>
            </a:extLst>
          </p:cNvPr>
          <p:cNvSpPr/>
          <p:nvPr/>
        </p:nvSpPr>
        <p:spPr>
          <a:xfrm>
            <a:off x="292016" y="2690768"/>
            <a:ext cx="6737957" cy="5977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EE0DDB-666A-4502-B06E-5EB923748C7F}"/>
              </a:ext>
            </a:extLst>
          </p:cNvPr>
          <p:cNvSpPr/>
          <p:nvPr/>
        </p:nvSpPr>
        <p:spPr>
          <a:xfrm>
            <a:off x="4211073" y="5873403"/>
            <a:ext cx="3884303" cy="8857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63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다른 해석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원래 네트워크 구조에서 기존 노드들의 각속도를 모두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로 바꾼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dummy network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만든다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Dummy network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동기화 상태에서 새 노드와의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phase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차이가 클수록 각속도를 많이 반영함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초록색 노드들의 각속도를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만큼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빨간색 노드들의 각속도를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2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만큼 반영해 새 노드의 각속도를 결정한다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pic>
        <p:nvPicPr>
          <p:cNvPr id="76" name="그림 7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15" y="1556174"/>
            <a:ext cx="3838704" cy="8130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ADD2B1CA-7C52-41B6-8000-97A90A646D07}"/>
              </a:ext>
            </a:extLst>
          </p:cNvPr>
          <p:cNvSpPr txBox="1"/>
          <p:nvPr/>
        </p:nvSpPr>
        <p:spPr>
          <a:xfrm>
            <a:off x="116102" y="1077653"/>
            <a:ext cx="512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ALF: 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 전체의 </a:t>
            </a:r>
            <a:r>
              <a:rPr lang="en-US" altLang="ko-KR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power loss</a:t>
            </a:r>
            <a:r>
              <a:rPr lang="ko-KR" altLang="en-US" sz="1600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를 최대한 낮추고 싶다</a:t>
            </a:r>
            <a:endParaRPr lang="en-US" altLang="ko-KR" sz="1600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C2BC67-D3A7-4999-AF4D-31AF51FF3AF5}"/>
              </a:ext>
            </a:extLst>
          </p:cNvPr>
          <p:cNvGrpSpPr/>
          <p:nvPr/>
        </p:nvGrpSpPr>
        <p:grpSpPr>
          <a:xfrm>
            <a:off x="1147301" y="3375077"/>
            <a:ext cx="3838704" cy="1862753"/>
            <a:chOff x="1147300" y="2997725"/>
            <a:chExt cx="4616341" cy="2240106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3076183" y="3514930"/>
              <a:ext cx="517205" cy="517205"/>
            </a:xfrm>
            <a:prstGeom prst="ellipse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3799601" y="4720626"/>
              <a:ext cx="517205" cy="517205"/>
            </a:xfrm>
            <a:prstGeom prst="ellipse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5246436" y="2997725"/>
              <a:ext cx="517205" cy="517205"/>
            </a:xfrm>
            <a:prstGeom prst="ellips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4851067" y="4122500"/>
              <a:ext cx="517205" cy="517205"/>
            </a:xfrm>
            <a:prstGeom prst="ellips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A61F53B-10D0-44E5-907C-538C4D1891E9}"/>
                </a:ext>
              </a:extLst>
            </p:cNvPr>
            <p:cNvSpPr/>
            <p:nvPr/>
          </p:nvSpPr>
          <p:spPr>
            <a:xfrm>
              <a:off x="1671378" y="3607216"/>
              <a:ext cx="517205" cy="51720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/>
            <p:cNvCxnSpPr>
              <a:stCxn id="15" idx="6"/>
              <a:endCxn id="17" idx="2"/>
            </p:cNvCxnSpPr>
            <p:nvPr/>
          </p:nvCxnSpPr>
          <p:spPr>
            <a:xfrm flipV="1">
              <a:off x="3593388" y="3256328"/>
              <a:ext cx="1653048" cy="5172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>
              <a:stCxn id="16" idx="6"/>
              <a:endCxn id="18" idx="3"/>
            </p:cNvCxnSpPr>
            <p:nvPr/>
          </p:nvCxnSpPr>
          <p:spPr>
            <a:xfrm flipV="1">
              <a:off x="4316806" y="4563962"/>
              <a:ext cx="610004" cy="4152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>
              <a:stCxn id="15" idx="5"/>
              <a:endCxn id="18" idx="2"/>
            </p:cNvCxnSpPr>
            <p:nvPr/>
          </p:nvCxnSpPr>
          <p:spPr>
            <a:xfrm>
              <a:off x="3517645" y="3956392"/>
              <a:ext cx="1333422" cy="4247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>
              <a:stCxn id="17" idx="4"/>
              <a:endCxn id="18" idx="7"/>
            </p:cNvCxnSpPr>
            <p:nvPr/>
          </p:nvCxnSpPr>
          <p:spPr>
            <a:xfrm flipH="1">
              <a:off x="5292529" y="3514930"/>
              <a:ext cx="212510" cy="683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>
              <a:stCxn id="19" idx="6"/>
            </p:cNvCxnSpPr>
            <p:nvPr/>
          </p:nvCxnSpPr>
          <p:spPr>
            <a:xfrm flipV="1">
              <a:off x="2188583" y="3815713"/>
              <a:ext cx="887600" cy="5010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386453" y="3117828"/>
                  <a:ext cx="2099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453" y="3117828"/>
                  <a:ext cx="20999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1034" r="-34483" b="-342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999003" y="4224097"/>
                  <a:ext cx="2099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003" y="4224097"/>
                  <a:ext cx="20999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5714" r="-35714" b="-3157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902503" y="4840728"/>
                  <a:ext cx="2099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2503" y="4840728"/>
                  <a:ext cx="20999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1034" r="-34483" b="-342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3229788" y="3635032"/>
                  <a:ext cx="2099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788" y="3635032"/>
                  <a:ext cx="20999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1034" r="-34483" b="-3513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D2B1CA-7C52-41B6-8000-97A90A646D07}"/>
                    </a:ext>
                  </a:extLst>
                </p:cNvPr>
                <p:cNvSpPr txBox="1"/>
                <p:nvPr/>
              </p:nvSpPr>
              <p:spPr>
                <a:xfrm>
                  <a:off x="1147300" y="4166602"/>
                  <a:ext cx="14484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𝑛𝑒𝑤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=−4</m:t>
                        </m:r>
                      </m:oMath>
                    </m:oMathPara>
                  </a14:m>
                  <a:endParaRPr lang="en-US" altLang="ko-KR" sz="1600" b="0" i="0" dirty="0">
                    <a:latin typeface="Cambria Math" panose="02040503050406030204" pitchFamily="18" charset="0"/>
                    <a:ea typeface="서울남산체 B" panose="02020503020101020101" pitchFamily="18" charset="-127"/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DD2B1CA-7C52-41B6-8000-97A90A646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300" y="4166602"/>
                  <a:ext cx="1448467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직선 연결선 30"/>
            <p:cNvCxnSpPr>
              <a:cxnSpLocks/>
              <a:stCxn id="19" idx="5"/>
              <a:endCxn id="16" idx="2"/>
            </p:cNvCxnSpPr>
            <p:nvPr/>
          </p:nvCxnSpPr>
          <p:spPr>
            <a:xfrm>
              <a:off x="2112840" y="4048678"/>
              <a:ext cx="1686761" cy="93055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화살표: 오른쪽 6">
            <a:extLst>
              <a:ext uri="{FF2B5EF4-FFF2-40B4-BE49-F238E27FC236}">
                <a16:creationId xmlns:a16="http://schemas.microsoft.com/office/drawing/2014/main" id="{868141C8-718D-406B-A81F-B21913FA8847}"/>
              </a:ext>
            </a:extLst>
          </p:cNvPr>
          <p:cNvSpPr/>
          <p:nvPr/>
        </p:nvSpPr>
        <p:spPr>
          <a:xfrm>
            <a:off x="5585510" y="3717925"/>
            <a:ext cx="892628" cy="6746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471C712-27FE-43B6-B24D-991428B8A7ED}"/>
                  </a:ext>
                </a:extLst>
              </p:cNvPr>
              <p:cNvSpPr txBox="1"/>
              <p:nvPr/>
            </p:nvSpPr>
            <p:spPr>
              <a:xfrm>
                <a:off x="2789612" y="3157695"/>
                <a:ext cx="14484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Ω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12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471C712-27FE-43B6-B24D-991428B8A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612" y="3157695"/>
                <a:ext cx="144846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BC41191-D13D-4513-9A1D-7AC60E041133}"/>
              </a:ext>
            </a:extLst>
          </p:cNvPr>
          <p:cNvSpPr txBox="1"/>
          <p:nvPr/>
        </p:nvSpPr>
        <p:spPr>
          <a:xfrm>
            <a:off x="2407301" y="2749689"/>
            <a:ext cx="1737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Dummy </a:t>
            </a:r>
            <a:r>
              <a:rPr lang="en-US" altLang="ko-KR" sz="1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network</a:t>
            </a:r>
            <a:endParaRPr lang="en-US" altLang="ko-KR" sz="1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F4840A-FD4D-4BCD-96EE-D9E8BF0D2EF4}"/>
              </a:ext>
            </a:extLst>
          </p:cNvPr>
          <p:cNvGrpSpPr/>
          <p:nvPr/>
        </p:nvGrpSpPr>
        <p:grpSpPr>
          <a:xfrm>
            <a:off x="6928714" y="3275205"/>
            <a:ext cx="3874112" cy="1862753"/>
            <a:chOff x="1147300" y="2997725"/>
            <a:chExt cx="4658923" cy="2240106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C5D5667-9897-45D7-8C88-B26C2F9CDC93}"/>
                </a:ext>
              </a:extLst>
            </p:cNvPr>
            <p:cNvSpPr/>
            <p:nvPr/>
          </p:nvSpPr>
          <p:spPr>
            <a:xfrm>
              <a:off x="3076183" y="3514930"/>
              <a:ext cx="517205" cy="517205"/>
            </a:xfrm>
            <a:prstGeom prst="ellipse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F3CC3A1-8CA6-4221-A6DB-E5289980AD93}"/>
                </a:ext>
              </a:extLst>
            </p:cNvPr>
            <p:cNvSpPr/>
            <p:nvPr/>
          </p:nvSpPr>
          <p:spPr>
            <a:xfrm>
              <a:off x="3799601" y="4720626"/>
              <a:ext cx="517205" cy="517205"/>
            </a:xfrm>
            <a:prstGeom prst="ellipse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9BCE9FC-641D-4EFC-8DAA-750A6D9738D0}"/>
                </a:ext>
              </a:extLst>
            </p:cNvPr>
            <p:cNvSpPr/>
            <p:nvPr/>
          </p:nvSpPr>
          <p:spPr>
            <a:xfrm>
              <a:off x="5246436" y="2997725"/>
              <a:ext cx="517205" cy="517205"/>
            </a:xfrm>
            <a:prstGeom prst="ellips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08D8CB2-67B5-4184-899F-639D4A60DB6F}"/>
                </a:ext>
              </a:extLst>
            </p:cNvPr>
            <p:cNvSpPr/>
            <p:nvPr/>
          </p:nvSpPr>
          <p:spPr>
            <a:xfrm>
              <a:off x="4851067" y="4122500"/>
              <a:ext cx="517205" cy="517205"/>
            </a:xfrm>
            <a:prstGeom prst="ellips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0365DFD-1CBB-4E11-ACF6-B80880C1B818}"/>
                </a:ext>
              </a:extLst>
            </p:cNvPr>
            <p:cNvSpPr/>
            <p:nvPr/>
          </p:nvSpPr>
          <p:spPr>
            <a:xfrm>
              <a:off x="1671378" y="3607216"/>
              <a:ext cx="517205" cy="51720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F0EA6BE6-855F-4451-A5D6-4E6199D9B35D}"/>
                </a:ext>
              </a:extLst>
            </p:cNvPr>
            <p:cNvCxnSpPr>
              <a:stCxn id="42" idx="6"/>
              <a:endCxn id="44" idx="2"/>
            </p:cNvCxnSpPr>
            <p:nvPr/>
          </p:nvCxnSpPr>
          <p:spPr>
            <a:xfrm flipV="1">
              <a:off x="3593388" y="3256328"/>
              <a:ext cx="1653048" cy="5172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D24412D0-B3C2-49FD-9B55-28F9EEEC6F6A}"/>
                </a:ext>
              </a:extLst>
            </p:cNvPr>
            <p:cNvCxnSpPr>
              <a:stCxn id="43" idx="6"/>
              <a:endCxn id="45" idx="3"/>
            </p:cNvCxnSpPr>
            <p:nvPr/>
          </p:nvCxnSpPr>
          <p:spPr>
            <a:xfrm flipV="1">
              <a:off x="4316806" y="4563962"/>
              <a:ext cx="610004" cy="4152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7887082B-24A0-4B80-8FCD-D1A5DD0C8EFC}"/>
                </a:ext>
              </a:extLst>
            </p:cNvPr>
            <p:cNvCxnSpPr>
              <a:stCxn id="42" idx="5"/>
              <a:endCxn id="45" idx="2"/>
            </p:cNvCxnSpPr>
            <p:nvPr/>
          </p:nvCxnSpPr>
          <p:spPr>
            <a:xfrm>
              <a:off x="3517645" y="3956392"/>
              <a:ext cx="1333422" cy="4247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7C6A636F-191C-48E9-A124-C99F07C3F5A7}"/>
                </a:ext>
              </a:extLst>
            </p:cNvPr>
            <p:cNvCxnSpPr>
              <a:stCxn id="44" idx="4"/>
              <a:endCxn id="45" idx="7"/>
            </p:cNvCxnSpPr>
            <p:nvPr/>
          </p:nvCxnSpPr>
          <p:spPr>
            <a:xfrm flipH="1">
              <a:off x="5292529" y="3514930"/>
              <a:ext cx="212510" cy="683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4FD57995-C0BB-4041-9995-35DC46D948F1}"/>
                </a:ext>
              </a:extLst>
            </p:cNvPr>
            <p:cNvCxnSpPr>
              <a:stCxn id="46" idx="6"/>
            </p:cNvCxnSpPr>
            <p:nvPr/>
          </p:nvCxnSpPr>
          <p:spPr>
            <a:xfrm flipV="1">
              <a:off x="2188583" y="3815713"/>
              <a:ext cx="887600" cy="5010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D10D17D-CFC0-42B9-A926-2C79DC02AA39}"/>
                </a:ext>
              </a:extLst>
            </p:cNvPr>
            <p:cNvSpPr txBox="1"/>
            <p:nvPr/>
          </p:nvSpPr>
          <p:spPr>
            <a:xfrm>
              <a:off x="5287662" y="3148882"/>
              <a:ext cx="518561" cy="3331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US" altLang="ko-KR" dirty="0"/>
                <a:t>0.02</a:t>
              </a:r>
              <a:endParaRPr lang="ko-KR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EFBE133-F961-4E44-9D73-4AA9FF939E70}"/>
                    </a:ext>
                  </a:extLst>
                </p:cNvPr>
                <p:cNvSpPr txBox="1"/>
                <p:nvPr/>
              </p:nvSpPr>
              <p:spPr>
                <a:xfrm>
                  <a:off x="4779981" y="4199648"/>
                  <a:ext cx="618803" cy="3331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0.02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EFBE133-F961-4E44-9D73-4AA9FF939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9981" y="4199648"/>
                  <a:ext cx="618803" cy="333113"/>
                </a:xfrm>
                <a:prstGeom prst="rect">
                  <a:avLst/>
                </a:prstGeom>
                <a:blipFill>
                  <a:blip r:embed="rId9"/>
                  <a:stretch>
                    <a:fillRect l="-7059" r="-8235" b="-108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854656-DADF-4041-A942-FAB598759CD0}"/>
                    </a:ext>
                  </a:extLst>
                </p:cNvPr>
                <p:cNvSpPr txBox="1"/>
                <p:nvPr/>
              </p:nvSpPr>
              <p:spPr>
                <a:xfrm>
                  <a:off x="3749832" y="4840730"/>
                  <a:ext cx="618803" cy="3331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854656-DADF-4041-A942-FAB598759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9832" y="4840730"/>
                  <a:ext cx="618803" cy="333113"/>
                </a:xfrm>
                <a:prstGeom prst="rect">
                  <a:avLst/>
                </a:prstGeom>
                <a:blipFill>
                  <a:blip r:embed="rId10"/>
                  <a:stretch>
                    <a:fillRect l="-8333" r="-8333" b="-111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8275DEC-FC31-4748-B9FD-28541CF983A8}"/>
                    </a:ext>
                  </a:extLst>
                </p:cNvPr>
                <p:cNvSpPr txBox="1"/>
                <p:nvPr/>
              </p:nvSpPr>
              <p:spPr>
                <a:xfrm>
                  <a:off x="1147300" y="4166602"/>
                  <a:ext cx="1448467" cy="4071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서울남산체 B" panose="02020503020101020101" pitchFamily="18" charset="-127"/>
                              </a:rPr>
                              <m:t>𝑛𝑒𝑤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서울남산체 B" panose="02020503020101020101" pitchFamily="18" charset="-127"/>
                          </a:rPr>
                          <m:t>=0</m:t>
                        </m:r>
                      </m:oMath>
                    </m:oMathPara>
                  </a14:m>
                  <a:endParaRPr lang="en-US" altLang="ko-KR" sz="1600" b="0" i="0" dirty="0">
                    <a:latin typeface="Cambria Math" panose="02040503050406030204" pitchFamily="18" charset="0"/>
                    <a:ea typeface="서울남산체 B" panose="02020503020101020101" pitchFamily="18" charset="-127"/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8275DEC-FC31-4748-B9FD-28541CF98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300" y="4166602"/>
                  <a:ext cx="1448467" cy="40713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7844B7E9-F5B1-4049-A38E-FF4440C7355D}"/>
                </a:ext>
              </a:extLst>
            </p:cNvPr>
            <p:cNvCxnSpPr>
              <a:cxnSpLocks/>
              <a:stCxn id="46" idx="5"/>
              <a:endCxn id="43" idx="2"/>
            </p:cNvCxnSpPr>
            <p:nvPr/>
          </p:nvCxnSpPr>
          <p:spPr>
            <a:xfrm>
              <a:off x="2112840" y="4048678"/>
              <a:ext cx="1686761" cy="93055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095EBC4-8699-4C80-921B-D956FD345F8B}"/>
                  </a:ext>
                </a:extLst>
              </p:cNvPr>
              <p:cNvSpPr txBox="1"/>
              <p:nvPr/>
            </p:nvSpPr>
            <p:spPr>
              <a:xfrm>
                <a:off x="8571025" y="3057823"/>
                <a:ext cx="14484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서울남산체 B" panose="02020503020101020101" pitchFamily="18" charset="-127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1200" b="0" i="0" dirty="0">
                  <a:latin typeface="Cambria Math" panose="02040503050406030204" pitchFamily="18" charset="0"/>
                  <a:ea typeface="서울남산체 B" panose="02020503020101020101" pitchFamily="18" charset="-127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095EBC4-8699-4C80-921B-D956FD345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025" y="3057823"/>
                <a:ext cx="144846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505EE34-B28D-4C5A-8BB2-9393B98DC7FF}"/>
                  </a:ext>
                </a:extLst>
              </p:cNvPr>
              <p:cNvSpPr txBox="1"/>
              <p:nvPr/>
            </p:nvSpPr>
            <p:spPr>
              <a:xfrm>
                <a:off x="8490429" y="3785584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505EE34-B28D-4C5A-8BB2-9393B98DC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429" y="3785584"/>
                <a:ext cx="514564" cy="276999"/>
              </a:xfrm>
              <a:prstGeom prst="rect">
                <a:avLst/>
              </a:prstGeom>
              <a:blipFill>
                <a:blip r:embed="rId13"/>
                <a:stretch>
                  <a:fillRect l="-8333" r="-8333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47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테스트 방법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같은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설정값을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이용해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네트워크 여러 개를 만들고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각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노드들의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고유 진동수를 정규분포로 생성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300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개의 네트워크에서 얻은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평균값이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대표값이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423686" y="1265499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528577" y="1805651"/>
            <a:ext cx="44022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9464" y="1414746"/>
                <a:ext cx="904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(50,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4" y="1414746"/>
                <a:ext cx="90422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4027" r="-6711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2017" y="2040762"/>
                <a:ext cx="605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7" y="2040762"/>
                <a:ext cx="60516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5051" r="-7071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2017" y="2585833"/>
                <a:ext cx="605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7" y="2585833"/>
                <a:ext cx="605166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5051" r="-7071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73777" y="4114865"/>
                <a:ext cx="861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300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77" y="4114865"/>
                <a:ext cx="861646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546" r="-4965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27656" y="3386767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56" y="3386767"/>
                <a:ext cx="15388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4000" r="-28000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연결선 40"/>
          <p:cNvCxnSpPr/>
          <p:nvPr/>
        </p:nvCxnSpPr>
        <p:spPr>
          <a:xfrm>
            <a:off x="583748" y="4546922"/>
            <a:ext cx="43470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40955" y="1419002"/>
                <a:ext cx="340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955" y="1419002"/>
                <a:ext cx="340863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2500" r="-178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363691" y="1414745"/>
                <a:ext cx="3461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691" y="1414745"/>
                <a:ext cx="346185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2281" r="-1754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206346" y="1414745"/>
                <a:ext cx="2789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46" y="1414745"/>
                <a:ext cx="278923" cy="276999"/>
              </a:xfrm>
              <a:prstGeom prst="rect">
                <a:avLst/>
              </a:prstGeom>
              <a:blipFill rotWithShape="0">
                <a:blip r:embed="rId9"/>
                <a:stretch>
                  <a:fillRect r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758440" y="1397338"/>
                <a:ext cx="443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440" y="1397338"/>
                <a:ext cx="443968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9722" r="-4167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직선 연결선 45"/>
          <p:cNvCxnSpPr/>
          <p:nvPr/>
        </p:nvCxnSpPr>
        <p:spPr>
          <a:xfrm>
            <a:off x="4388734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4930816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553081" y="2039213"/>
                <a:ext cx="267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081" y="2039213"/>
                <a:ext cx="267381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6818" r="-22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529707" y="2522096"/>
                <a:ext cx="272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707" y="2522096"/>
                <a:ext cx="272702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6667" r="-444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610456" y="3388989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56" y="3388989"/>
                <a:ext cx="15388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23077" r="-23077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431923" y="4115257"/>
                <a:ext cx="4682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923" y="4115257"/>
                <a:ext cx="468270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3896" r="-2597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318796" y="2978077"/>
                <a:ext cx="9880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796" y="2978077"/>
                <a:ext cx="988027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321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389988" y="4605380"/>
                <a:ext cx="552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𝑠𝑒𝑒𝑑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988" y="4605380"/>
                <a:ext cx="552139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3297" r="-1099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직사각형 59"/>
          <p:cNvSpPr/>
          <p:nvPr/>
        </p:nvSpPr>
        <p:spPr>
          <a:xfrm>
            <a:off x="4379332" y="4546922"/>
            <a:ext cx="540174" cy="4803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4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테스트 방법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: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같은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설정값을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이용해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네트워크 여러 개를 만들고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각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노드들의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고유 진동수를 정규분포로 생성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300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개의 네트워크에서 얻은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평균값이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네트워크의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대표값이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방법으로 새로운 </a:t>
            </a:r>
            <a:r>
              <a:rPr lang="ko-KR" altLang="en-US" dirty="0" err="1">
                <a:latin typeface="서울남산체 L" panose="02020503020101020101" pitchFamily="18" charset="-127"/>
                <a:ea typeface="서울남산체 L" panose="02020503020101020101" pitchFamily="18" charset="-127"/>
              </a:rPr>
              <a:t>노드들을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추가한 후 얻은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값의 평균이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Local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성적이 된다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.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423686" y="1265499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528577" y="1805651"/>
            <a:ext cx="62715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9464" y="1414746"/>
                <a:ext cx="904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(50,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4" y="1414746"/>
                <a:ext cx="90422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4027" r="-6711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2017" y="2040762"/>
                <a:ext cx="605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7" y="2040762"/>
                <a:ext cx="60516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5051" r="-7071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2017" y="2585833"/>
                <a:ext cx="605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7" y="2585833"/>
                <a:ext cx="605166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5051" r="-7071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73777" y="4114865"/>
                <a:ext cx="8616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300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77" y="4114865"/>
                <a:ext cx="861646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546" r="-4965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27656" y="3386767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56" y="3386767"/>
                <a:ext cx="15388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4000" r="-28000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연결선 40"/>
          <p:cNvCxnSpPr/>
          <p:nvPr/>
        </p:nvCxnSpPr>
        <p:spPr>
          <a:xfrm>
            <a:off x="583748" y="4546922"/>
            <a:ext cx="6202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40955" y="1419002"/>
                <a:ext cx="340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955" y="1419002"/>
                <a:ext cx="340863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2500" r="-178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363691" y="1414745"/>
                <a:ext cx="3461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691" y="1414745"/>
                <a:ext cx="346185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2281" r="-1754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206346" y="1414745"/>
                <a:ext cx="2789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46" y="1414745"/>
                <a:ext cx="278923" cy="276999"/>
              </a:xfrm>
              <a:prstGeom prst="rect">
                <a:avLst/>
              </a:prstGeom>
              <a:blipFill rotWithShape="0">
                <a:blip r:embed="rId9"/>
                <a:stretch>
                  <a:fillRect r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758440" y="1397338"/>
                <a:ext cx="4439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440" y="1397338"/>
                <a:ext cx="443968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9722" r="-4167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직선 연결선 45"/>
          <p:cNvCxnSpPr/>
          <p:nvPr/>
        </p:nvCxnSpPr>
        <p:spPr>
          <a:xfrm>
            <a:off x="4388734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4930816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553081" y="2039213"/>
                <a:ext cx="267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081" y="2039213"/>
                <a:ext cx="267381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6818" r="-22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529707" y="2522096"/>
                <a:ext cx="272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707" y="2522096"/>
                <a:ext cx="272702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6667" r="-444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610456" y="3388989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56" y="3388989"/>
                <a:ext cx="15388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23077" r="-23077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431923" y="4115257"/>
                <a:ext cx="4682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923" y="4115257"/>
                <a:ext cx="468270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3896" r="-2597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318796" y="2978077"/>
                <a:ext cx="9880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796" y="2978077"/>
                <a:ext cx="988027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321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/>
          <p:cNvCxnSpPr/>
          <p:nvPr/>
        </p:nvCxnSpPr>
        <p:spPr>
          <a:xfrm>
            <a:off x="6252259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185673" y="2978077"/>
                <a:ext cx="8561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𝐿𝑜𝑐𝑎𝑙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673" y="2978077"/>
                <a:ext cx="856132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6429" r="-5714" b="-1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099748" y="1414744"/>
                <a:ext cx="9712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748" y="1414744"/>
                <a:ext cx="971292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4403" r="-629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연결선 47"/>
          <p:cNvCxnSpPr/>
          <p:nvPr/>
        </p:nvCxnSpPr>
        <p:spPr>
          <a:xfrm>
            <a:off x="6800128" y="1283284"/>
            <a:ext cx="0" cy="4043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412032" y="2036991"/>
                <a:ext cx="267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032" y="2036991"/>
                <a:ext cx="267381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6818" r="-2273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388658" y="2519874"/>
                <a:ext cx="272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658" y="2519874"/>
                <a:ext cx="272702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6667" r="-4444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469407" y="3386767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07" y="3386767"/>
                <a:ext cx="153888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24000" r="-28000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290874" y="4113035"/>
                <a:ext cx="4682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874" y="4113035"/>
                <a:ext cx="468270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3896" r="-1299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231981" y="4601120"/>
                <a:ext cx="601190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981" y="4601120"/>
                <a:ext cx="601190" cy="299249"/>
              </a:xfrm>
              <a:prstGeom prst="rect">
                <a:avLst/>
              </a:prstGeom>
              <a:blipFill rotWithShape="0">
                <a:blip r:embed="rId22"/>
                <a:stretch>
                  <a:fillRect l="-3030" r="-5051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389988" y="4605380"/>
                <a:ext cx="552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𝑠𝑒𝑒𝑑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988" y="4605380"/>
                <a:ext cx="552139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3297" r="-1099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직사각형 60"/>
          <p:cNvSpPr/>
          <p:nvPr/>
        </p:nvSpPr>
        <p:spPr>
          <a:xfrm>
            <a:off x="4379332" y="4546922"/>
            <a:ext cx="540174" cy="4803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6252259" y="4546922"/>
            <a:ext cx="540174" cy="4803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8643375" y="4674622"/>
            <a:ext cx="22069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flipV="1">
            <a:off x="8643375" y="2719104"/>
            <a:ext cx="0" cy="19555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8643375" y="2862832"/>
            <a:ext cx="1989901" cy="181179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9271321" y="3171463"/>
            <a:ext cx="115747" cy="115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0357412" y="2513969"/>
                <a:ext cx="6473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412" y="2513969"/>
                <a:ext cx="647357" cy="276999"/>
              </a:xfrm>
              <a:prstGeom prst="rect">
                <a:avLst/>
              </a:prstGeom>
              <a:blipFill rotWithShape="0">
                <a:blip r:embed="rId24"/>
                <a:stretch>
                  <a:fillRect l="-6604" r="-1887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190525" y="4713515"/>
                <a:ext cx="552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𝑠𝑒𝑒𝑑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525" y="4713515"/>
                <a:ext cx="552139" cy="276999"/>
              </a:xfrm>
              <a:prstGeom prst="rect">
                <a:avLst/>
              </a:prstGeom>
              <a:blipFill rotWithShape="0">
                <a:blip r:embed="rId25"/>
                <a:stretch>
                  <a:fillRect l="-3333" r="-222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958950" y="2652468"/>
                <a:ext cx="601190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950" y="2652468"/>
                <a:ext cx="601190" cy="299249"/>
              </a:xfrm>
              <a:prstGeom prst="rect">
                <a:avLst/>
              </a:prstGeom>
              <a:blipFill rotWithShape="0">
                <a:blip r:embed="rId26"/>
                <a:stretch>
                  <a:fillRect l="-3061" r="-5102" b="-306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72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-24960" y="0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16343" y="98010"/>
              <a:ext cx="111693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Result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N=30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인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 network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에서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10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개를 더 성장시키는 동안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order parameter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비교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각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column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은 시작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이 낮은 영역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중간 영역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,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높은 영역에서 시작한 경우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대부분의 영역에서 좋고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SAF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는 좀 애매함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4F486D-7544-45E2-A102-AD1F2316A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604" y="862334"/>
            <a:ext cx="7120033" cy="4623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E4514-3797-4997-9908-E0C978626F26}"/>
              </a:ext>
            </a:extLst>
          </p:cNvPr>
          <p:cNvSpPr txBox="1"/>
          <p:nvPr/>
        </p:nvSpPr>
        <p:spPr>
          <a:xfrm>
            <a:off x="985706" y="1656825"/>
            <a:ext cx="9024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dirty="0"/>
              <a:t>Callaway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A81655-6A90-4CA8-8E7C-6AA6BDBEEAFB}"/>
              </a:ext>
            </a:extLst>
          </p:cNvPr>
          <p:cNvSpPr txBox="1"/>
          <p:nvPr/>
        </p:nvSpPr>
        <p:spPr>
          <a:xfrm>
            <a:off x="1213606" y="3671581"/>
            <a:ext cx="2869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dirty="0"/>
              <a:t>BA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46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81">
            <a:extLst>
              <a:ext uri="{FF2B5EF4-FFF2-40B4-BE49-F238E27FC236}">
                <a16:creationId xmlns:a16="http://schemas.microsoft.com/office/drawing/2014/main" id="{2DDE24DE-7C32-4E47-BA10-6C01F9C113DD}"/>
              </a:ext>
            </a:extLst>
          </p:cNvPr>
          <p:cNvGrpSpPr/>
          <p:nvPr/>
        </p:nvGrpSpPr>
        <p:grpSpPr>
          <a:xfrm>
            <a:off x="2" y="34131"/>
            <a:ext cx="12191999" cy="677581"/>
            <a:chOff x="0" y="34131"/>
            <a:chExt cx="13049258" cy="677581"/>
          </a:xfrm>
        </p:grpSpPr>
        <p:sp>
          <p:nvSpPr>
            <p:cNvPr id="11" name="Shape 177">
              <a:extLst>
                <a:ext uri="{FF2B5EF4-FFF2-40B4-BE49-F238E27FC236}">
                  <a16:creationId xmlns:a16="http://schemas.microsoft.com/office/drawing/2014/main" id="{AB7EE07C-4A85-425B-BE86-8C531A98592B}"/>
                </a:ext>
              </a:extLst>
            </p:cNvPr>
            <p:cNvSpPr txBox="1"/>
            <p:nvPr/>
          </p:nvSpPr>
          <p:spPr>
            <a:xfrm>
              <a:off x="129446" y="98010"/>
              <a:ext cx="625378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just"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altLang="ko-KR" sz="2400" dirty="0">
                  <a:latin typeface="Helvetica" panose="020B0604020202020204" pitchFamily="34" charset="0"/>
                  <a:ea typeface="서울남산체 M" panose="02020503020101020101" pitchFamily="18" charset="-127"/>
                  <a:cs typeface="Helvetica" panose="020B0604020202020204" pitchFamily="34" charset="0"/>
                </a:rPr>
                <a:t>Optimal frequency for growing network</a:t>
              </a:r>
            </a:p>
          </p:txBody>
        </p:sp>
        <p:sp>
          <p:nvSpPr>
            <p:cNvPr id="12" name="Shape 178">
              <a:extLst>
                <a:ext uri="{FF2B5EF4-FFF2-40B4-BE49-F238E27FC236}">
                  <a16:creationId xmlns:a16="http://schemas.microsoft.com/office/drawing/2014/main" id="{C820B763-4862-4EBA-B337-3F2BEA2B90EC}"/>
                </a:ext>
              </a:extLst>
            </p:cNvPr>
            <p:cNvSpPr/>
            <p:nvPr/>
          </p:nvSpPr>
          <p:spPr>
            <a:xfrm>
              <a:off x="10878145" y="34131"/>
              <a:ext cx="2160688" cy="677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3152" y="562"/>
                  </a:lnTo>
                  <a:lnTo>
                    <a:pt x="21468" y="0"/>
                  </a:lnTo>
                  <a:lnTo>
                    <a:pt x="21600" y="21356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Shape 179">
              <a:extLst>
                <a:ext uri="{FF2B5EF4-FFF2-40B4-BE49-F238E27FC236}">
                  <a16:creationId xmlns:a16="http://schemas.microsoft.com/office/drawing/2014/main" id="{63C83D03-903F-44FD-B29D-3E15853CCB14}"/>
                </a:ext>
              </a:extLst>
            </p:cNvPr>
            <p:cNvSpPr txBox="1"/>
            <p:nvPr/>
          </p:nvSpPr>
          <p:spPr>
            <a:xfrm>
              <a:off x="10878145" y="136667"/>
              <a:ext cx="2108201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/>
                <a:t>Introduction</a:t>
              </a:r>
            </a:p>
          </p:txBody>
        </p:sp>
        <p:sp>
          <p:nvSpPr>
            <p:cNvPr id="14" name="Shape 180">
              <a:extLst>
                <a:ext uri="{FF2B5EF4-FFF2-40B4-BE49-F238E27FC236}">
                  <a16:creationId xmlns:a16="http://schemas.microsoft.com/office/drawing/2014/main" id="{4D95545B-2A65-482A-A04E-F572850A4238}"/>
                </a:ext>
              </a:extLst>
            </p:cNvPr>
            <p:cNvSpPr/>
            <p:nvPr/>
          </p:nvSpPr>
          <p:spPr>
            <a:xfrm flipV="1">
              <a:off x="0" y="711127"/>
              <a:ext cx="13049258" cy="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Apple SD 산돌고딕 Neo 일반체"/>
                  <a:ea typeface="Apple SD 산돌고딕 Neo 일반체"/>
                  <a:cs typeface="Apple SD 산돌고딕 Neo 일반체"/>
                  <a:sym typeface="Apple SD 산돌고딕 Neo 일반체"/>
                </a:defRPr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389FA3-6FF8-4CD7-B27E-E03B23A8042B}"/>
              </a:ext>
            </a:extLst>
          </p:cNvPr>
          <p:cNvSpPr txBox="1"/>
          <p:nvPr/>
        </p:nvSpPr>
        <p:spPr>
          <a:xfrm>
            <a:off x="261545" y="5486315"/>
            <a:ext cx="1106005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Seed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network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의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과 네트워크 크기에 따른 최종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r 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차이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1,2,3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열에서 네트워크 사이즈는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10~20, 30~40, 50~60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작은 네트워크 외에는 </a:t>
            </a:r>
            <a:r>
              <a:rPr lang="en-US" altLang="ko-KR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ALF</a:t>
            </a:r>
            <a:r>
              <a:rPr lang="ko-KR" altLang="en-US" dirty="0">
                <a:latin typeface="서울남산체 L" panose="02020503020101020101" pitchFamily="18" charset="-127"/>
                <a:ea typeface="서울남산체 L" panose="02020503020101020101" pitchFamily="18" charset="-127"/>
              </a:rPr>
              <a:t>가 좋음</a:t>
            </a:r>
            <a:endParaRPr lang="en-US" altLang="ko-KR" dirty="0">
              <a:latin typeface="서울남산체 L" panose="02020503020101020101" pitchFamily="18" charset="-127"/>
              <a:ea typeface="서울남산체 L" panose="020205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DE0EEC-D391-433A-9909-701794191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026" y="878818"/>
            <a:ext cx="7021902" cy="460683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01B0D72-D373-462B-9A9B-43FEA0243944}"/>
              </a:ext>
            </a:extLst>
          </p:cNvPr>
          <p:cNvSpPr txBox="1"/>
          <p:nvPr/>
        </p:nvSpPr>
        <p:spPr>
          <a:xfrm>
            <a:off x="985706" y="1656825"/>
            <a:ext cx="9024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dirty="0"/>
              <a:t>Callaway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9C2923-90B6-45CF-8828-B75C1CD608EC}"/>
              </a:ext>
            </a:extLst>
          </p:cNvPr>
          <p:cNvSpPr txBox="1"/>
          <p:nvPr/>
        </p:nvSpPr>
        <p:spPr>
          <a:xfrm>
            <a:off x="1213606" y="3671581"/>
            <a:ext cx="2869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dirty="0"/>
              <a:t>BA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00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4927</TotalTime>
  <Words>664</Words>
  <Application>Microsoft Office PowerPoint</Application>
  <PresentationFormat>와이드스크린</PresentationFormat>
  <Paragraphs>159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Apple SD 산돌고딕 Neo 일반체</vt:lpstr>
      <vt:lpstr>맑은 고딕</vt:lpstr>
      <vt:lpstr>서울남산체 B</vt:lpstr>
      <vt:lpstr>서울남산체 L</vt:lpstr>
      <vt:lpstr>Arial</vt:lpstr>
      <vt:lpstr>Cambria Math</vt:lpstr>
      <vt:lpstr>Helvetica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조원국</dc:creator>
  <cp:lastModifiedBy>이 대경</cp:lastModifiedBy>
  <cp:revision>143</cp:revision>
  <dcterms:created xsi:type="dcterms:W3CDTF">2020-09-16T05:55:20Z</dcterms:created>
  <dcterms:modified xsi:type="dcterms:W3CDTF">2022-05-14T11:25:34Z</dcterms:modified>
</cp:coreProperties>
</file>