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30C_DA34BE09.xml" ContentType="application/vnd.ms-powerpoint.comments+xml"/>
  <Override PartName="/ppt/comments/modernComment_30D_F1713D51.xml" ContentType="application/vnd.ms-powerpoint.comments+xml"/>
  <Override PartName="/ppt/comments/modernComment_30F_CA38B8DA.xml" ContentType="application/vnd.ms-powerpoint.comments+xml"/>
  <Override PartName="/ppt/comments/modernComment_31F_ED7C64FE.xml" ContentType="application/vnd.ms-powerpoint.comments+xml"/>
  <Override PartName="/ppt/comments/modernComment_313_E8AD7EE3.xml" ContentType="application/vnd.ms-powerpoint.comments+xml"/>
  <Override PartName="/ppt/comments/modernComment_310_D88527.xml" ContentType="application/vnd.ms-powerpoint.comments+xml"/>
  <Override PartName="/ppt/comments/modernComment_314_71BBF315.xml" ContentType="application/vnd.ms-powerpoint.comments+xml"/>
  <Override PartName="/ppt/comments/modernComment_315_7931D3FA.xml" ContentType="application/vnd.ms-powerpoint.comments+xml"/>
  <Override PartName="/ppt/comments/modernComment_320_16635370.xml" ContentType="application/vnd.ms-powerpoint.comments+xml"/>
  <Override PartName="/ppt/comments/modernComment_31E_23EDCCEE.xml" ContentType="application/vnd.ms-powerpoint.comments+xml"/>
  <Override PartName="/ppt/comments/modernComment_316_6EB5ED22.xml" ContentType="application/vnd.ms-powerpoint.comments+xml"/>
  <Override PartName="/ppt/comments/modernComment_317_9E9177C.xml" ContentType="application/vnd.ms-powerpoint.comments+xml"/>
  <Override PartName="/ppt/comments/modernComment_318_23C2B79B.xml" ContentType="application/vnd.ms-powerpoint.comments+xml"/>
  <Override PartName="/ppt/comments/modernComment_319_ED9B09F0.xml" ContentType="application/vnd.ms-powerpoint.comments+xml"/>
  <Override PartName="/ppt/comments/modernComment_31B_F726B9C0.xml" ContentType="application/vnd.ms-powerpoint.comments+xml"/>
  <Override PartName="/ppt/comments/modernComment_31C_44BDE6C0.xml" ContentType="application/vnd.ms-powerpoint.comments+xml"/>
  <Override PartName="/ppt/comments/modernComment_31D_FCF78140.xml" ContentType="application/vnd.ms-powerpoint.comments+xml"/>
  <Override PartName="/ppt/comments/modernComment_2F8_9418CD2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699" r:id="rId2"/>
    <p:sldId id="700" r:id="rId3"/>
    <p:sldId id="780" r:id="rId4"/>
    <p:sldId id="781" r:id="rId5"/>
    <p:sldId id="783" r:id="rId6"/>
    <p:sldId id="799" r:id="rId7"/>
    <p:sldId id="787" r:id="rId8"/>
    <p:sldId id="784" r:id="rId9"/>
    <p:sldId id="788" r:id="rId10"/>
    <p:sldId id="789" r:id="rId11"/>
    <p:sldId id="800" r:id="rId12"/>
    <p:sldId id="798" r:id="rId13"/>
    <p:sldId id="790" r:id="rId14"/>
    <p:sldId id="791" r:id="rId15"/>
    <p:sldId id="792" r:id="rId16"/>
    <p:sldId id="793" r:id="rId17"/>
    <p:sldId id="795" r:id="rId18"/>
    <p:sldId id="796" r:id="rId19"/>
    <p:sldId id="797" r:id="rId20"/>
    <p:sldId id="76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23A858-4B44-029F-B50B-6C462ADB883C}" name="이대경" initials="이" userId="S::dklee@live.kentech.ac.kr::41e9267b-ea9c-473b-93b0-4dcd95c7ab8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xaparsec@gmail.com" initials="e" lastIdx="1" clrIdx="0">
    <p:extLst>
      <p:ext uri="{19B8F6BF-5375-455C-9EA6-DF929625EA0E}">
        <p15:presenceInfo xmlns:p15="http://schemas.microsoft.com/office/powerpoint/2012/main" userId="7611c2554c4bc0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FFFFFF"/>
    <a:srgbClr val="548235"/>
    <a:srgbClr val="1EB9EE"/>
    <a:srgbClr val="6495ED"/>
    <a:srgbClr val="FA978B"/>
    <a:srgbClr val="DC7CE8"/>
    <a:srgbClr val="D8756C"/>
    <a:srgbClr val="FF0505"/>
    <a:srgbClr val="B72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2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505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modernComment_2F8_9418CD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B1D869-7C45-0946-A65E-F252851FD204}" authorId="{2023A858-4B44-029F-B50B-6C462ADB883C}" created="2023-07-09T00:34:11.778">
    <pc:sldMkLst xmlns:pc="http://schemas.microsoft.com/office/powerpoint/2013/main/command">
      <pc:docMk/>
      <pc:sldMk cId="2484653348" sldId="760"/>
    </pc:sldMkLst>
    <p188:txBody>
      <a:bodyPr/>
      <a:lstStyle/>
      <a:p>
        <a:r>
          <a:rPr lang="ko-Kore-KR" altLang="en-US"/>
          <a:t>써머리 크기 키우고 윽박지르듯이</a:t>
        </a:r>
      </a:p>
    </p188:txBody>
  </p188:cm>
</p188:cmLst>
</file>

<file path=ppt/comments/modernComment_30C_DA34BE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0D_F1713D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0F_CA38B8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B_F726B9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C_44BDE6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D_FCF781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E_23EDCC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F_ED7C64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0_D885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3_E8AD7E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4_71BBF3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5_7931D3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6_6EB5ED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7_9E917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8_23C2B7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9_ED9B09F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20_166353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FB696-1126-4A73-9BA9-65DA040723D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D08D7-A37E-4377-BC90-83B3BD77F1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47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성균관대학교 통계물리연구실의 이대경입니다</a:t>
            </a:r>
            <a:r>
              <a:rPr lang="en-US" altLang="ko-KR" dirty="0"/>
              <a:t>. </a:t>
            </a:r>
            <a:r>
              <a:rPr lang="ko-KR" altLang="en-US" dirty="0"/>
              <a:t>오늘 저는 네트워크의 커뮤니티 구조에 대해 다른 시각으로 접근한 연구를 발표하려고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AB1E3A-DE85-49D0-8A40-93095C3177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90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화살표를 호 화살표로 교체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D08D7-A37E-4377-BC90-83B3BD77F18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56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0FDC8-5F68-4AEB-84A8-168D9A9C8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9A5E53-A9D2-4C8D-BCFA-7A55BF08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5F3BC-9B78-435D-84E3-B40DC4E9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5F76-2273-46BE-8DE7-96A07878241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54F13-1606-4596-849F-6BED800D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98905A-45BB-45E1-931A-02C24646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58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9BA77-D737-4E9D-84F6-6B16DBDC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ECF732-DD5F-4BE5-88C8-7C7AD609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95E5F-D570-49DA-A9D0-2A2BEBC1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6F69A-79C8-49A1-89EE-A16ED73B8670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296DE-B7F9-4B68-A927-42A5004D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549284-5CA4-49DB-8E72-81EBA840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3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D5DD1-EC63-4790-95FB-7EF76928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CFAEE-F94A-4BD2-A8FC-BCA88FAB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690E61-5189-4AD6-A987-EC5EB1AE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6868-7508-481E-8597-6F1169CD4522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B234E-50ED-4AC4-9DDA-0545344B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A49AA-43BF-44E2-A7D2-579255CA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65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5078B-211E-4270-807F-8466208B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D79A58-39CE-4E82-A65F-D2A38D1D7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173515-1A4D-4A6F-9BD8-AF81B75E9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27DE59-F585-4C0D-83A5-D14BBDB1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4B1D-ADDD-4EEA-9D13-1554A71AC7B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4692B2-2F72-4DB3-8378-8DAE6C96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7D9A28-255E-4F60-AF86-74ADB8AB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77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C6C45-2EF4-4FB9-A31D-D450BEEC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29696-A519-4BDD-8D8E-45BC2801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1E0132-6142-480E-90D0-854173BC8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0BBC89-5143-4618-AAF1-397B9A629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B210B6-4939-45F9-A518-2398B9FD4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F74C4F-8C36-43FD-A42C-DB4CE7D3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6CEDA-4ADF-42AA-B1EA-1BF24CB653EE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42C0DC-FC90-4793-AF9D-C807EC72A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FD207F-2991-492D-817B-57259653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97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1DD38-A59D-4BF0-AC2A-B1B607BF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D9B2EF-3E3C-492E-9F29-3F14F12E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B2D5-540C-4A1C-992E-E8F0B0A905DD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C944C2-7ECF-4290-BACA-E9975EC1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22746C-359B-475B-B69E-96796311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57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BCCFB-9FCE-4F08-BED7-BE63E985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B02-8843-418D-A1A4-6C44F8E00EFF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27ED13-9E6F-45EF-8DBB-D3FD878F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7D20B-3C5D-42C5-A407-E262DCDE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A8BBB642-71B5-4A5A-9DC4-BFE4ED81B0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Shape 178">
            <a:extLst>
              <a:ext uri="{FF2B5EF4-FFF2-40B4-BE49-F238E27FC236}">
                <a16:creationId xmlns:a16="http://schemas.microsoft.com/office/drawing/2014/main" id="{E0F5F516-CAC3-3421-262D-D9680D030B29}"/>
              </a:ext>
            </a:extLst>
          </p:cNvPr>
          <p:cNvSpPr/>
          <p:nvPr userDrawn="1"/>
        </p:nvSpPr>
        <p:spPr>
          <a:xfrm>
            <a:off x="10163517" y="136525"/>
            <a:ext cx="2018744" cy="575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8100" cap="flat">
            <a:solidFill>
              <a:schemeClr val="accent1">
                <a:lumMod val="60000"/>
                <a:lumOff val="40000"/>
              </a:scheme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>
              <a:solidFill>
                <a:schemeClr val="accent5"/>
              </a:solidFill>
            </a:endParaRPr>
          </a:p>
        </p:txBody>
      </p:sp>
      <p:sp>
        <p:nvSpPr>
          <p:cNvPr id="6" name="Shape 180">
            <a:extLst>
              <a:ext uri="{FF2B5EF4-FFF2-40B4-BE49-F238E27FC236}">
                <a16:creationId xmlns:a16="http://schemas.microsoft.com/office/drawing/2014/main" id="{0AD84E0F-A6E6-4406-7EA4-F609B75AE9B3}"/>
              </a:ext>
            </a:extLst>
          </p:cNvPr>
          <p:cNvSpPr/>
          <p:nvPr userDrawn="1"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chemeClr val="accent1">
                <a:lumMod val="60000"/>
                <a:lumOff val="40000"/>
              </a:scheme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94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CF960-050E-4751-8AF2-66E14861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A393F-7722-49CA-86D5-3F5E0708C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BC907-624A-45B2-93F3-84CE1B503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8B6DD-A90A-4EBB-97DE-00516A95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185E4-9991-4B0C-8082-0024104499D1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C753B-082E-4205-8BDB-F9F33059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47A33C-1686-41E8-AD2F-7B546576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38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EE876-4572-4AD8-9E32-CF7F05B2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35E8CA-D3EB-476B-9992-B4EF2093A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61D18-701E-437D-90A3-C09785C90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8B7C98-B035-4374-885E-E4388902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A29B-80CE-4F4A-849D-D15C243F3F36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1B46A4-45CB-4C9A-9A4B-B8FC46D9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CBFB94-BF6D-45F4-B92D-CB27B2A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63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AD22B-93DC-4B83-83D4-56F18932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4D4CAD-0A4E-42B2-BB60-CD2AC8C3A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8900F-A74F-4BC1-A6B8-7C0A3BD8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EC1B7-0EDD-4824-8AA5-881E33B7211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5F1E6-21B7-43D6-90F5-2A37CA8C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C9193-C8B8-4591-91C5-E06B1FBC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63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BA2100-E201-4202-9646-A4410495B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59134-FDAD-4B19-8BF6-31E94F1D8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C9DA1-9BB1-49C9-BF25-0B3A5B62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0113-D208-4FA3-B18C-6D178188199E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442D1-9B7E-44AA-94D8-4E07CF8F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5D5AA-6480-4F9F-A0DA-5D2B3593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04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987BE0-F9C8-4FF5-B7F3-B154542E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84181-E2B5-4160-B6EE-58F8E179F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25C04-1E07-490F-8A87-49E10F8B9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C6823-6281-47BC-9241-27765E6F56BF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79D86-B63B-4988-B4D5-2657C0B28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65D15-6FC0-4FF3-B4BD-C4AF1DF56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30C_DA34BE0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microsoft.com/office/2018/10/relationships/comments" Target="../comments/modernComment_30D_F1713D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microsoft.com/office/2018/10/relationships/comments" Target="../comments/modernComment_30F_CA38B8DA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microsoft.com/office/2018/10/relationships/comments" Target="../comments/modernComment_31F_ED7C64FE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313_E8AD7E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microsoft.com/office/2018/10/relationships/comments" Target="../comments/modernComment_310_D885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60.png"/><Relationship Id="rId7" Type="http://schemas.openxmlformats.org/officeDocument/2006/relationships/image" Target="../media/image31.png"/><Relationship Id="rId2" Type="http://schemas.microsoft.com/office/2018/10/relationships/comments" Target="../comments/modernComment_314_71BBF3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2" Type="http://schemas.microsoft.com/office/2018/10/relationships/comments" Target="../comments/modernComment_315_7931D3FA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2" Type="http://schemas.microsoft.com/office/2018/10/relationships/comments" Target="../comments/modernComment_320_166353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3.png"/><Relationship Id="rId7" Type="http://schemas.openxmlformats.org/officeDocument/2006/relationships/image" Target="../media/image371.png"/><Relationship Id="rId2" Type="http://schemas.microsoft.com/office/2018/10/relationships/comments" Target="../comments/modernComment_31E_23EDCCEE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microsoft.com/office/2018/10/relationships/comments" Target="../comments/modernComment_316_6EB5ED22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8" Type="http://schemas.openxmlformats.org/officeDocument/2006/relationships/image" Target="../media/image42.png"/><Relationship Id="rId21" Type="http://schemas.openxmlformats.org/officeDocument/2006/relationships/image" Target="../media/image48.png"/><Relationship Id="rId17" Type="http://schemas.openxmlformats.org/officeDocument/2006/relationships/image" Target="../media/image410.png"/><Relationship Id="rId25" Type="http://schemas.openxmlformats.org/officeDocument/2006/relationships/image" Target="../media/image39.png"/><Relationship Id="rId2" Type="http://schemas.microsoft.com/office/2018/10/relationships/comments" Target="../comments/modernComment_317_9E9177C.xml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51.png"/><Relationship Id="rId23" Type="http://schemas.openxmlformats.org/officeDocument/2006/relationships/image" Target="../media/image50.png"/><Relationship Id="rId10" Type="http://schemas.openxmlformats.org/officeDocument/2006/relationships/image" Target="../media/image46.png"/><Relationship Id="rId19" Type="http://schemas.openxmlformats.org/officeDocument/2006/relationships/image" Target="../media/image43.png"/><Relationship Id="rId9" Type="http://schemas.openxmlformats.org/officeDocument/2006/relationships/image" Target="../media/image45.png"/><Relationship Id="rId4" Type="http://schemas.openxmlformats.org/officeDocument/2006/relationships/image" Target="../media/image400.png"/><Relationship Id="rId22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8" Type="http://schemas.openxmlformats.org/officeDocument/2006/relationships/image" Target="../media/image42.png"/><Relationship Id="rId21" Type="http://schemas.openxmlformats.org/officeDocument/2006/relationships/image" Target="../media/image48.png"/><Relationship Id="rId17" Type="http://schemas.openxmlformats.org/officeDocument/2006/relationships/image" Target="../media/image410.png"/><Relationship Id="rId25" Type="http://schemas.openxmlformats.org/officeDocument/2006/relationships/image" Target="../media/image39.png"/><Relationship Id="rId2" Type="http://schemas.microsoft.com/office/2018/10/relationships/comments" Target="../comments/modernComment_318_23C2B79B.xml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51.png"/><Relationship Id="rId23" Type="http://schemas.openxmlformats.org/officeDocument/2006/relationships/image" Target="../media/image50.png"/><Relationship Id="rId10" Type="http://schemas.openxmlformats.org/officeDocument/2006/relationships/image" Target="../media/image46.png"/><Relationship Id="rId19" Type="http://schemas.openxmlformats.org/officeDocument/2006/relationships/image" Target="../media/image43.png"/><Relationship Id="rId9" Type="http://schemas.openxmlformats.org/officeDocument/2006/relationships/image" Target="../media/image45.png"/><Relationship Id="rId4" Type="http://schemas.openxmlformats.org/officeDocument/2006/relationships/image" Target="../media/image400.png"/><Relationship Id="rId22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microsoft.com/office/2018/10/relationships/comments" Target="../comments/modernComment_319_ED9B09F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microsoft.com/office/2018/10/relationships/comments" Target="../comments/modernComment_31B_F726B9C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microsoft.com/office/2018/10/relationships/comments" Target="../comments/modernComment_31C_44BDE6C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80.png"/><Relationship Id="rId7" Type="http://schemas.openxmlformats.org/officeDocument/2006/relationships/image" Target="../media/image64.png"/><Relationship Id="rId2" Type="http://schemas.microsoft.com/office/2018/10/relationships/comments" Target="../comments/modernComment_31D_FCF781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microsoft.com/office/2018/10/relationships/comments" Target="../comments/modernComment_2F8_9418CD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3441"/>
          <a:stretch/>
        </p:blipFill>
        <p:spPr>
          <a:xfrm>
            <a:off x="0" y="0"/>
            <a:ext cx="1466864" cy="154624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F913BF-C7D4-4857-966C-DD2E31C19081}"/>
              </a:ext>
            </a:extLst>
          </p:cNvPr>
          <p:cNvSpPr/>
          <p:nvPr/>
        </p:nvSpPr>
        <p:spPr>
          <a:xfrm>
            <a:off x="0" y="0"/>
            <a:ext cx="12192000" cy="3112675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515671"/>
            <a:ext cx="9144000" cy="582551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Daekyung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Lee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, Jong-Min Park,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Heetae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Kim*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ea typeface="서울남산체 M" panose="02020503020101020101" pitchFamily="18" charset="-127"/>
              <a:cs typeface="Helvetica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E43F51-A165-4932-B81A-201A48E03E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3" t="33484" r="16605" b="36524"/>
          <a:stretch/>
        </p:blipFill>
        <p:spPr>
          <a:xfrm>
            <a:off x="8994109" y="4333469"/>
            <a:ext cx="3021677" cy="97129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86336" y="233153"/>
            <a:ext cx="10956175" cy="2063007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Optimal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Link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addition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in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Kuramoto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Model</a:t>
            </a:r>
            <a:b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</a:b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for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Enhanced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synchronization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DIN Condensed" pitchFamily="2" charset="0"/>
              <a:cs typeface="Arial" panose="020B060402020202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2A8A5-C542-4CCF-8C1B-CDDE6FE4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Shape 1082">
            <a:extLst>
              <a:ext uri="{FF2B5EF4-FFF2-40B4-BE49-F238E27FC236}">
                <a16:creationId xmlns:a16="http://schemas.microsoft.com/office/drawing/2014/main" id="{AD5D1791-648E-DF68-E810-FEB7DDCD5051}"/>
              </a:ext>
            </a:extLst>
          </p:cNvPr>
          <p:cNvSpPr/>
          <p:nvPr/>
        </p:nvSpPr>
        <p:spPr>
          <a:xfrm rot="5400000" flipH="1">
            <a:off x="7075501" y="3175636"/>
            <a:ext cx="792362" cy="25216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10" name="Shape 1082">
            <a:extLst>
              <a:ext uri="{FF2B5EF4-FFF2-40B4-BE49-F238E27FC236}">
                <a16:creationId xmlns:a16="http://schemas.microsoft.com/office/drawing/2014/main" id="{E934F190-8AD8-ED7E-884C-2969479FC8B0}"/>
              </a:ext>
            </a:extLst>
          </p:cNvPr>
          <p:cNvSpPr/>
          <p:nvPr/>
        </p:nvSpPr>
        <p:spPr>
          <a:xfrm rot="5400000" flipH="1" flipV="1">
            <a:off x="5981035" y="3386422"/>
            <a:ext cx="1468188" cy="28917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11" name="Shape 1082">
            <a:extLst>
              <a:ext uri="{FF2B5EF4-FFF2-40B4-BE49-F238E27FC236}">
                <a16:creationId xmlns:a16="http://schemas.microsoft.com/office/drawing/2014/main" id="{324C8093-52EA-10BD-D1C0-A6EFF6FFB258}"/>
              </a:ext>
            </a:extLst>
          </p:cNvPr>
          <p:cNvSpPr/>
          <p:nvPr/>
        </p:nvSpPr>
        <p:spPr>
          <a:xfrm rot="5400000" flipH="1" flipV="1">
            <a:off x="3829106" y="4381684"/>
            <a:ext cx="803247" cy="277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4EAE78-7EF6-4CA4-81A7-51C138DADF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472" y="5074919"/>
            <a:ext cx="3319290" cy="7954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75EBB63-8B87-86EE-A867-C98A90A50B8B}"/>
              </a:ext>
            </a:extLst>
          </p:cNvPr>
          <p:cNvSpPr/>
          <p:nvPr/>
        </p:nvSpPr>
        <p:spPr>
          <a:xfrm>
            <a:off x="3725352" y="4780340"/>
            <a:ext cx="1094022" cy="283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354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77"/>
    </mc:Choice>
    <mc:Fallback xmlns="">
      <p:transition spd="slow" advTm="160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178">
            <a:extLst>
              <a:ext uri="{FF2B5EF4-FFF2-40B4-BE49-F238E27FC236}">
                <a16:creationId xmlns:a16="http://schemas.microsoft.com/office/drawing/2014/main" id="{7C07EBB4-5AC4-457F-A5F3-B3E96E8EEEEB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 dirty="0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261545" y="5508551"/>
            <a:ext cx="11060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Adding new links to the oscillator network generally promotes synchronization.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degree of synchronization increases or decreases depending on the location of the new link.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How to locate new links on the target network to maximize synchronization?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49742" y="121034"/>
            <a:ext cx="514243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Link addition in oscillatory system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A674C-A6E3-410A-9234-B2C2038DA3CE}"/>
              </a:ext>
            </a:extLst>
          </p:cNvPr>
          <p:cNvCxnSpPr>
            <a:stCxn id="2" idx="6"/>
            <a:endCxn id="28" idx="2"/>
          </p:cNvCxnSpPr>
          <p:nvPr/>
        </p:nvCxnSpPr>
        <p:spPr>
          <a:xfrm>
            <a:off x="2516882" y="1157369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F9EE6E5-FE0A-44F0-A5B2-23FFE796B1D2}"/>
              </a:ext>
            </a:extLst>
          </p:cNvPr>
          <p:cNvCxnSpPr>
            <a:cxnSpLocks/>
            <a:stCxn id="2" idx="4"/>
            <a:endCxn id="29" idx="0"/>
          </p:cNvCxnSpPr>
          <p:nvPr/>
        </p:nvCxnSpPr>
        <p:spPr>
          <a:xfrm>
            <a:off x="231622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ED5C831-C122-473E-BB0B-53673F88200B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446506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CAB4E74E-A2B3-46D8-914C-966B96C32ED7}"/>
              </a:ext>
            </a:extLst>
          </p:cNvPr>
          <p:cNvSpPr/>
          <p:nvPr/>
        </p:nvSpPr>
        <p:spPr>
          <a:xfrm>
            <a:off x="211556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CE3E789-490D-4944-85CB-32CE64834617}"/>
              </a:ext>
            </a:extLst>
          </p:cNvPr>
          <p:cNvSpPr/>
          <p:nvPr/>
        </p:nvSpPr>
        <p:spPr>
          <a:xfrm>
            <a:off x="426440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6CDDCAD-B1C7-4A37-809E-5581693AE55B}"/>
              </a:ext>
            </a:extLst>
          </p:cNvPr>
          <p:cNvSpPr/>
          <p:nvPr/>
        </p:nvSpPr>
        <p:spPr>
          <a:xfrm>
            <a:off x="211556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EB674C3-7282-4F4B-A1F4-2AB8EF12344E}"/>
              </a:ext>
            </a:extLst>
          </p:cNvPr>
          <p:cNvSpPr/>
          <p:nvPr/>
        </p:nvSpPr>
        <p:spPr>
          <a:xfrm>
            <a:off x="426440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126D51B-5C83-44D1-826C-87C93B624F72}"/>
              </a:ext>
            </a:extLst>
          </p:cNvPr>
          <p:cNvCxnSpPr>
            <a:stCxn id="43" idx="6"/>
            <a:endCxn id="44" idx="2"/>
          </p:cNvCxnSpPr>
          <p:nvPr/>
        </p:nvCxnSpPr>
        <p:spPr>
          <a:xfrm>
            <a:off x="8323322" y="1157369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7074E33-A94C-49A1-9C64-0AD504EB6C59}"/>
              </a:ext>
            </a:extLst>
          </p:cNvPr>
          <p:cNvCxnSpPr>
            <a:cxnSpLocks/>
            <a:stCxn id="43" idx="4"/>
            <a:endCxn id="45" idx="0"/>
          </p:cNvCxnSpPr>
          <p:nvPr/>
        </p:nvCxnSpPr>
        <p:spPr>
          <a:xfrm>
            <a:off x="812266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E894083-A95A-4585-976D-D1B9C5B189A0}"/>
              </a:ext>
            </a:extLst>
          </p:cNvPr>
          <p:cNvCxnSpPr>
            <a:cxnSpLocks/>
            <a:stCxn id="44" idx="4"/>
            <a:endCxn id="46" idx="0"/>
          </p:cNvCxnSpPr>
          <p:nvPr/>
        </p:nvCxnSpPr>
        <p:spPr>
          <a:xfrm>
            <a:off x="1027150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33D4942B-F198-4C23-B253-C3A597530BDC}"/>
              </a:ext>
            </a:extLst>
          </p:cNvPr>
          <p:cNvSpPr/>
          <p:nvPr/>
        </p:nvSpPr>
        <p:spPr>
          <a:xfrm>
            <a:off x="792200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C2E64B6-7320-4F06-88AE-B6D7FBF7F3C3}"/>
              </a:ext>
            </a:extLst>
          </p:cNvPr>
          <p:cNvSpPr/>
          <p:nvPr/>
        </p:nvSpPr>
        <p:spPr>
          <a:xfrm>
            <a:off x="1007084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79257C3-DCFC-40C0-A265-8C49E5D3DFD4}"/>
              </a:ext>
            </a:extLst>
          </p:cNvPr>
          <p:cNvSpPr/>
          <p:nvPr/>
        </p:nvSpPr>
        <p:spPr>
          <a:xfrm>
            <a:off x="792200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04DDDDF-BFE6-4635-B543-C44B80DF9FE3}"/>
              </a:ext>
            </a:extLst>
          </p:cNvPr>
          <p:cNvSpPr/>
          <p:nvPr/>
        </p:nvSpPr>
        <p:spPr>
          <a:xfrm>
            <a:off x="1007084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389863E-647E-46AF-A3CA-3236CA049791}"/>
              </a:ext>
            </a:extLst>
          </p:cNvPr>
          <p:cNvCxnSpPr>
            <a:cxnSpLocks/>
            <a:stCxn id="45" idx="6"/>
            <a:endCxn id="46" idx="2"/>
          </p:cNvCxnSpPr>
          <p:nvPr/>
        </p:nvCxnSpPr>
        <p:spPr>
          <a:xfrm>
            <a:off x="8323322" y="2900046"/>
            <a:ext cx="174752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54171BE9-667C-4D53-BB89-A04658A5CC3C}"/>
              </a:ext>
            </a:extLst>
          </p:cNvPr>
          <p:cNvSpPr/>
          <p:nvPr/>
        </p:nvSpPr>
        <p:spPr>
          <a:xfrm>
            <a:off x="2720959" y="3701762"/>
            <a:ext cx="1251109" cy="125110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A7F383F-05AB-4D97-A2CD-E2E52D7737E4}"/>
              </a:ext>
            </a:extLst>
          </p:cNvPr>
          <p:cNvSpPr/>
          <p:nvPr/>
        </p:nvSpPr>
        <p:spPr>
          <a:xfrm>
            <a:off x="2702932" y="4446832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15B0993-A5A7-4BA1-A2C7-F8198793B88D}"/>
              </a:ext>
            </a:extLst>
          </p:cNvPr>
          <p:cNvSpPr/>
          <p:nvPr/>
        </p:nvSpPr>
        <p:spPr>
          <a:xfrm>
            <a:off x="2997252" y="4806107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F137271-6F62-4F5E-8A77-44E7FE8C624D}"/>
              </a:ext>
            </a:extLst>
          </p:cNvPr>
          <p:cNvSpPr/>
          <p:nvPr/>
        </p:nvSpPr>
        <p:spPr>
          <a:xfrm>
            <a:off x="3687464" y="4722110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E48ED1A1-9825-4623-8FEE-1FFD09215EA4}"/>
              </a:ext>
            </a:extLst>
          </p:cNvPr>
          <p:cNvSpPr/>
          <p:nvPr/>
        </p:nvSpPr>
        <p:spPr>
          <a:xfrm>
            <a:off x="3883402" y="4325639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F4029DE-6FBF-414A-85CC-4D4830481BFC}"/>
              </a:ext>
            </a:extLst>
          </p:cNvPr>
          <p:cNvSpPr/>
          <p:nvPr/>
        </p:nvSpPr>
        <p:spPr>
          <a:xfrm>
            <a:off x="8591792" y="3700085"/>
            <a:ext cx="1251109" cy="125110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A3218BD-FB1A-4704-AB2B-E91511C7A92B}"/>
              </a:ext>
            </a:extLst>
          </p:cNvPr>
          <p:cNvSpPr/>
          <p:nvPr/>
        </p:nvSpPr>
        <p:spPr>
          <a:xfrm>
            <a:off x="8760134" y="4742560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95E78FF-0B69-437C-82D0-236396684A67}"/>
              </a:ext>
            </a:extLst>
          </p:cNvPr>
          <p:cNvSpPr/>
          <p:nvPr/>
        </p:nvSpPr>
        <p:spPr>
          <a:xfrm>
            <a:off x="8998642" y="4835010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E2D0A10-B6E4-4C8F-BE29-0B3D56AF151E}"/>
              </a:ext>
            </a:extLst>
          </p:cNvPr>
          <p:cNvSpPr/>
          <p:nvPr/>
        </p:nvSpPr>
        <p:spPr>
          <a:xfrm>
            <a:off x="9219153" y="4849525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55DB37B-C62B-48BC-A680-37A6B4C37985}"/>
              </a:ext>
            </a:extLst>
          </p:cNvPr>
          <p:cNvSpPr/>
          <p:nvPr/>
        </p:nvSpPr>
        <p:spPr>
          <a:xfrm>
            <a:off x="9448662" y="4786465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F3F8829E-F42E-40FA-ADA7-DE5C8CC857FD}"/>
              </a:ext>
            </a:extLst>
          </p:cNvPr>
          <p:cNvSpPr/>
          <p:nvPr/>
        </p:nvSpPr>
        <p:spPr>
          <a:xfrm>
            <a:off x="5851305" y="1938644"/>
            <a:ext cx="1019390" cy="585687"/>
          </a:xfrm>
          <a:prstGeom prst="rightArrow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87C297-C151-4E38-A79E-32BCE8034232}"/>
              </a:ext>
            </a:extLst>
          </p:cNvPr>
          <p:cNvSpPr txBox="1"/>
          <p:nvPr/>
        </p:nvSpPr>
        <p:spPr>
          <a:xfrm>
            <a:off x="5652282" y="1378639"/>
            <a:ext cx="1650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Link addition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C671D7-597D-4A79-A6D1-9188DE616D39}"/>
              </a:ext>
            </a:extLst>
          </p:cNvPr>
          <p:cNvSpPr txBox="1"/>
          <p:nvPr/>
        </p:nvSpPr>
        <p:spPr>
          <a:xfrm>
            <a:off x="5317262" y="3641669"/>
            <a:ext cx="248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Better synchronization</a:t>
            </a:r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A8DC79C4-6B4B-456D-AAB6-9C57CFD409E8}"/>
              </a:ext>
            </a:extLst>
          </p:cNvPr>
          <p:cNvSpPr/>
          <p:nvPr/>
        </p:nvSpPr>
        <p:spPr>
          <a:xfrm>
            <a:off x="5851305" y="4155963"/>
            <a:ext cx="1019390" cy="585687"/>
          </a:xfrm>
          <a:prstGeom prst="rightArrow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52E329-9E6D-42E6-9040-478368CC82E3}"/>
              </a:ext>
            </a:extLst>
          </p:cNvPr>
          <p:cNvSpPr txBox="1"/>
          <p:nvPr/>
        </p:nvSpPr>
        <p:spPr>
          <a:xfrm>
            <a:off x="366691" y="1759349"/>
            <a:ext cx="1976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Topology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C3E742-C14E-442F-9888-0ACCEBD8FEE3}"/>
              </a:ext>
            </a:extLst>
          </p:cNvPr>
          <p:cNvSpPr txBox="1"/>
          <p:nvPr/>
        </p:nvSpPr>
        <p:spPr>
          <a:xfrm>
            <a:off x="473242" y="4113245"/>
            <a:ext cx="1053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Phase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1E46C5E-6BED-489B-B46C-23C94F1E0FA0}"/>
              </a:ext>
            </a:extLst>
          </p:cNvPr>
          <p:cNvCxnSpPr>
            <a:cxnSpLocks/>
          </p:cNvCxnSpPr>
          <p:nvPr/>
        </p:nvCxnSpPr>
        <p:spPr>
          <a:xfrm>
            <a:off x="261545" y="3272367"/>
            <a:ext cx="11469022" cy="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8D13D00-D140-4DEB-834F-48ACD78CE4B8}"/>
              </a:ext>
            </a:extLst>
          </p:cNvPr>
          <p:cNvCxnSpPr>
            <a:cxnSpLocks/>
          </p:cNvCxnSpPr>
          <p:nvPr/>
        </p:nvCxnSpPr>
        <p:spPr>
          <a:xfrm>
            <a:off x="1731433" y="1075267"/>
            <a:ext cx="0" cy="4182533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18DD879-3953-4EF3-97EB-8DE41411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79CD3445-AAA7-4605-8409-CF9D4108B1A4}"/>
              </a:ext>
            </a:extLst>
          </p:cNvPr>
          <p:cNvSpPr/>
          <p:nvPr/>
        </p:nvSpPr>
        <p:spPr>
          <a:xfrm>
            <a:off x="8794664" y="4019322"/>
            <a:ext cx="845364" cy="737186"/>
          </a:xfrm>
          <a:prstGeom prst="arc">
            <a:avLst>
              <a:gd name="adj1" fmla="val 360418"/>
              <a:gd name="adj2" fmla="val 9824099"/>
            </a:avLst>
          </a:prstGeom>
          <a:ln w="3810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>
            <a:extLst>
              <a:ext uri="{FF2B5EF4-FFF2-40B4-BE49-F238E27FC236}">
                <a16:creationId xmlns:a16="http://schemas.microsoft.com/office/drawing/2014/main" id="{5B208E1C-1076-42D7-8199-EF2F09F25EAE}"/>
              </a:ext>
            </a:extLst>
          </p:cNvPr>
          <p:cNvSpPr/>
          <p:nvPr/>
        </p:nvSpPr>
        <p:spPr>
          <a:xfrm>
            <a:off x="2920681" y="4025546"/>
            <a:ext cx="845364" cy="737186"/>
          </a:xfrm>
          <a:prstGeom prst="arc">
            <a:avLst>
              <a:gd name="adj1" fmla="val 360418"/>
              <a:gd name="adj2" fmla="val 9824099"/>
            </a:avLst>
          </a:prstGeom>
          <a:ln w="3810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08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42"/>
    </mc:Choice>
    <mc:Fallback xmlns="">
      <p:transition spd="slow" advTm="466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78">
            <a:extLst>
              <a:ext uri="{FF2B5EF4-FFF2-40B4-BE49-F238E27FC236}">
                <a16:creationId xmlns:a16="http://schemas.microsoft.com/office/drawing/2014/main" id="{6EAC4F55-EF33-4B9C-A6AC-320F31445C46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A98521-34DE-4E8E-AF7E-753635D7202A}"/>
                  </a:ext>
                </a:extLst>
              </p:cNvPr>
              <p:cNvSpPr txBox="1"/>
              <p:nvPr/>
            </p:nvSpPr>
            <p:spPr>
              <a:xfrm>
                <a:off x="2148200" y="2574218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A98521-34DE-4E8E-AF7E-753635D7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200" y="2574218"/>
                <a:ext cx="4791166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Shape 1082">
            <a:extLst>
              <a:ext uri="{FF2B5EF4-FFF2-40B4-BE49-F238E27FC236}">
                <a16:creationId xmlns:a16="http://schemas.microsoft.com/office/drawing/2014/main" id="{CDAA515B-99F3-4969-BF27-A462172B8AB2}"/>
              </a:ext>
            </a:extLst>
          </p:cNvPr>
          <p:cNvSpPr/>
          <p:nvPr/>
        </p:nvSpPr>
        <p:spPr>
          <a:xfrm rot="5400000" flipH="1" flipV="1">
            <a:off x="2746649" y="3816876"/>
            <a:ext cx="1388471" cy="229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4" name="Shape 1082">
            <a:extLst>
              <a:ext uri="{FF2B5EF4-FFF2-40B4-BE49-F238E27FC236}">
                <a16:creationId xmlns:a16="http://schemas.microsoft.com/office/drawing/2014/main" id="{D57CFD6C-934F-405D-AD75-EAEFCEDF8E2C}"/>
              </a:ext>
            </a:extLst>
          </p:cNvPr>
          <p:cNvSpPr/>
          <p:nvPr/>
        </p:nvSpPr>
        <p:spPr>
          <a:xfrm rot="5400000" flipH="1">
            <a:off x="4627950" y="3844175"/>
            <a:ext cx="1466723" cy="32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900800-7BE4-403F-AB86-5EA6B90E4714}"/>
              </a:ext>
            </a:extLst>
          </p:cNvPr>
          <p:cNvSpPr txBox="1"/>
          <p:nvPr/>
        </p:nvSpPr>
        <p:spPr>
          <a:xfrm>
            <a:off x="1628377" y="4468970"/>
            <a:ext cx="164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Natural frequency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DB39C2-3CBD-4DBD-AD5A-14A2753F69DD}"/>
              </a:ext>
            </a:extLst>
          </p:cNvPr>
          <p:cNvSpPr txBox="1"/>
          <p:nvPr/>
        </p:nvSpPr>
        <p:spPr>
          <a:xfrm>
            <a:off x="5566187" y="4629729"/>
            <a:ext cx="2199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Interaction</a:t>
            </a:r>
          </a:p>
        </p:txBody>
      </p:sp>
      <p:sp>
        <p:nvSpPr>
          <p:cNvPr id="67" name="Shape 1082">
            <a:extLst>
              <a:ext uri="{FF2B5EF4-FFF2-40B4-BE49-F238E27FC236}">
                <a16:creationId xmlns:a16="http://schemas.microsoft.com/office/drawing/2014/main" id="{CDB26BF4-2EE9-47DE-9DBA-EF3A61F6ADF8}"/>
              </a:ext>
            </a:extLst>
          </p:cNvPr>
          <p:cNvSpPr/>
          <p:nvPr/>
        </p:nvSpPr>
        <p:spPr>
          <a:xfrm rot="5400000">
            <a:off x="3882083" y="2109640"/>
            <a:ext cx="808177" cy="366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8" name="Shape 1082">
            <a:extLst>
              <a:ext uri="{FF2B5EF4-FFF2-40B4-BE49-F238E27FC236}">
                <a16:creationId xmlns:a16="http://schemas.microsoft.com/office/drawing/2014/main" id="{36319CBF-EC3A-432C-A00E-01392C0F05CA}"/>
              </a:ext>
            </a:extLst>
          </p:cNvPr>
          <p:cNvSpPr/>
          <p:nvPr/>
        </p:nvSpPr>
        <p:spPr>
          <a:xfrm rot="5400000" flipV="1">
            <a:off x="2187954" y="1789055"/>
            <a:ext cx="781753" cy="7194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BD3F73-CE2D-43B8-95C5-4150CF175762}"/>
              </a:ext>
            </a:extLst>
          </p:cNvPr>
          <p:cNvSpPr txBox="1"/>
          <p:nvPr/>
        </p:nvSpPr>
        <p:spPr>
          <a:xfrm>
            <a:off x="713726" y="1602605"/>
            <a:ext cx="1527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Angular velocity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4505273" y="1761898"/>
            <a:ext cx="2073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Coupling constant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1545" y="5592982"/>
            <a:ext cx="1106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First-order Kuramoto model: The simplest model to describe the motion of an inertial oscillator.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Order parameter: Index measuring the degree of synchronization of the system (0~1)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3605" y="133634"/>
            <a:ext cx="41710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First-order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8747926" y="880214"/>
            <a:ext cx="178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Order 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1C3231D-F7EF-48CF-99C1-163406D1019C}"/>
                  </a:ext>
                </a:extLst>
              </p:cNvPr>
              <p:cNvSpPr txBox="1"/>
              <p:nvPr/>
            </p:nvSpPr>
            <p:spPr>
              <a:xfrm>
                <a:off x="8970156" y="2439222"/>
                <a:ext cx="1234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1C3231D-F7EF-48CF-99C1-163406D10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156" y="2439222"/>
                <a:ext cx="1234056" cy="369332"/>
              </a:xfrm>
              <a:prstGeom prst="rect">
                <a:avLst/>
              </a:prstGeom>
              <a:blipFill>
                <a:blip r:embed="rId4"/>
                <a:stretch>
                  <a:fillRect l="-985" r="-4926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타원 44">
            <a:extLst>
              <a:ext uri="{FF2B5EF4-FFF2-40B4-BE49-F238E27FC236}">
                <a16:creationId xmlns:a16="http://schemas.microsoft.com/office/drawing/2014/main" id="{07A0B471-1CAE-4B64-96B6-920041AE6279}"/>
              </a:ext>
            </a:extLst>
          </p:cNvPr>
          <p:cNvSpPr/>
          <p:nvPr/>
        </p:nvSpPr>
        <p:spPr>
          <a:xfrm>
            <a:off x="8271983" y="1355862"/>
            <a:ext cx="2630402" cy="263040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C0EB0E7-8169-41F5-875E-E219A1C79F44}"/>
              </a:ext>
            </a:extLst>
          </p:cNvPr>
          <p:cNvSpPr/>
          <p:nvPr/>
        </p:nvSpPr>
        <p:spPr>
          <a:xfrm>
            <a:off x="8789863" y="3683087"/>
            <a:ext cx="224415" cy="2244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0656BE13-5EFF-275A-29C0-9E07330EB3BB}"/>
              </a:ext>
            </a:extLst>
          </p:cNvPr>
          <p:cNvSpPr/>
          <p:nvPr/>
        </p:nvSpPr>
        <p:spPr>
          <a:xfrm>
            <a:off x="9419950" y="3893249"/>
            <a:ext cx="224416" cy="2244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E9519D52-192F-4A20-B8F9-51197DFA2B56}"/>
              </a:ext>
            </a:extLst>
          </p:cNvPr>
          <p:cNvSpPr/>
          <p:nvPr/>
        </p:nvSpPr>
        <p:spPr>
          <a:xfrm>
            <a:off x="10032005" y="3742394"/>
            <a:ext cx="224416" cy="2244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A1BBA2-374C-4848-8F3A-C00AD17C3A94}"/>
                  </a:ext>
                </a:extLst>
              </p:cNvPr>
              <p:cNvSpPr txBox="1"/>
              <p:nvPr/>
            </p:nvSpPr>
            <p:spPr>
              <a:xfrm>
                <a:off x="7024367" y="4361713"/>
                <a:ext cx="4791166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A1BBA2-374C-4848-8F3A-C00AD17C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367" y="4361713"/>
                <a:ext cx="4791166" cy="819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Shape 1082">
            <a:extLst>
              <a:ext uri="{FF2B5EF4-FFF2-40B4-BE49-F238E27FC236}">
                <a16:creationId xmlns:a16="http://schemas.microsoft.com/office/drawing/2014/main" id="{9CA52CD9-0E3C-40DB-958A-7F191F556723}"/>
              </a:ext>
            </a:extLst>
          </p:cNvPr>
          <p:cNvSpPr/>
          <p:nvPr/>
        </p:nvSpPr>
        <p:spPr>
          <a:xfrm rot="5400000" flipH="1" flipV="1">
            <a:off x="8698272" y="4897045"/>
            <a:ext cx="246294" cy="6857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0073F1-2C71-48F8-AF3E-30C99D4F72B0}"/>
              </a:ext>
            </a:extLst>
          </p:cNvPr>
          <p:cNvSpPr txBox="1"/>
          <p:nvPr/>
        </p:nvSpPr>
        <p:spPr>
          <a:xfrm>
            <a:off x="6839819" y="5167396"/>
            <a:ext cx="1779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Number of nodes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4426A9-C256-4F33-8587-FC335FEC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64DFA5A8-8DD1-4187-B8EF-38B08DEC0145}"/>
              </a:ext>
            </a:extLst>
          </p:cNvPr>
          <p:cNvSpPr/>
          <p:nvPr/>
        </p:nvSpPr>
        <p:spPr>
          <a:xfrm>
            <a:off x="8889164" y="2926363"/>
            <a:ext cx="1315048" cy="835485"/>
          </a:xfrm>
          <a:prstGeom prst="arc">
            <a:avLst>
              <a:gd name="adj1" fmla="val 360418"/>
              <a:gd name="adj2" fmla="val 9824099"/>
            </a:avLst>
          </a:prstGeom>
          <a:ln w="3810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8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78">
            <a:extLst>
              <a:ext uri="{FF2B5EF4-FFF2-40B4-BE49-F238E27FC236}">
                <a16:creationId xmlns:a16="http://schemas.microsoft.com/office/drawing/2014/main" id="{2F5D7497-ABF4-41D3-9679-5D8B85F0FDA2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1469074" y="136667"/>
              <a:ext cx="127089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400" dirty="0"/>
                <a:t>Method</a:t>
              </a:r>
              <a:endParaRPr sz="2400" dirty="0"/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25469" y="133634"/>
            <a:ext cx="548868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Stready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state of the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E587062-859A-4A25-8277-A8B08131CA2A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2208237" y="1468967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115FD18-FCD0-4E01-878E-B410E5F77225}"/>
              </a:ext>
            </a:extLst>
          </p:cNvPr>
          <p:cNvCxnSpPr>
            <a:cxnSpLocks/>
            <a:stCxn id="56" idx="4"/>
            <a:endCxn id="59" idx="0"/>
          </p:cNvCxnSpPr>
          <p:nvPr/>
        </p:nvCxnSpPr>
        <p:spPr>
          <a:xfrm>
            <a:off x="200757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C8A9B6F-B7B0-4BB0-8C46-5CD990919FEF}"/>
              </a:ext>
            </a:extLst>
          </p:cNvPr>
          <p:cNvCxnSpPr>
            <a:cxnSpLocks/>
            <a:stCxn id="57" idx="4"/>
            <a:endCxn id="60" idx="0"/>
          </p:cNvCxnSpPr>
          <p:nvPr/>
        </p:nvCxnSpPr>
        <p:spPr>
          <a:xfrm>
            <a:off x="415641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B00CAE73-EB2E-4063-ACA3-52643C12E6B6}"/>
              </a:ext>
            </a:extLst>
          </p:cNvPr>
          <p:cNvSpPr/>
          <p:nvPr/>
        </p:nvSpPr>
        <p:spPr>
          <a:xfrm>
            <a:off x="180691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7D41291-4DE7-4590-BC8D-1980D9AFB132}"/>
              </a:ext>
            </a:extLst>
          </p:cNvPr>
          <p:cNvSpPr/>
          <p:nvPr/>
        </p:nvSpPr>
        <p:spPr>
          <a:xfrm>
            <a:off x="395575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2891FB4-F86F-471C-9913-489DD9DE7A60}"/>
              </a:ext>
            </a:extLst>
          </p:cNvPr>
          <p:cNvSpPr/>
          <p:nvPr/>
        </p:nvSpPr>
        <p:spPr>
          <a:xfrm>
            <a:off x="180691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767805DD-D3B5-4826-AB77-C6F908CD24B2}"/>
              </a:ext>
            </a:extLst>
          </p:cNvPr>
          <p:cNvSpPr/>
          <p:nvPr/>
        </p:nvSpPr>
        <p:spPr>
          <a:xfrm>
            <a:off x="395575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534ED64-0B03-4E58-BAC9-795EC8A85942}"/>
              </a:ext>
            </a:extLst>
          </p:cNvPr>
          <p:cNvCxnSpPr>
            <a:stCxn id="73" idx="6"/>
            <a:endCxn id="74" idx="2"/>
          </p:cNvCxnSpPr>
          <p:nvPr/>
        </p:nvCxnSpPr>
        <p:spPr>
          <a:xfrm>
            <a:off x="8014677" y="1468967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F5E49A2-EF31-41BB-B87A-21A041ADBF80}"/>
              </a:ext>
            </a:extLst>
          </p:cNvPr>
          <p:cNvCxnSpPr>
            <a:cxnSpLocks/>
            <a:stCxn id="73" idx="4"/>
            <a:endCxn id="75" idx="0"/>
          </p:cNvCxnSpPr>
          <p:nvPr/>
        </p:nvCxnSpPr>
        <p:spPr>
          <a:xfrm>
            <a:off x="781401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26FE92F-799C-42AA-8BD0-4B0FABA6630C}"/>
              </a:ext>
            </a:extLst>
          </p:cNvPr>
          <p:cNvCxnSpPr>
            <a:cxnSpLocks/>
            <a:stCxn id="74" idx="4"/>
            <a:endCxn id="76" idx="0"/>
          </p:cNvCxnSpPr>
          <p:nvPr/>
        </p:nvCxnSpPr>
        <p:spPr>
          <a:xfrm>
            <a:off x="996285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타원 72">
            <a:extLst>
              <a:ext uri="{FF2B5EF4-FFF2-40B4-BE49-F238E27FC236}">
                <a16:creationId xmlns:a16="http://schemas.microsoft.com/office/drawing/2014/main" id="{72AAFC03-F10D-4C2C-A8E8-AE8E00F1AFEC}"/>
              </a:ext>
            </a:extLst>
          </p:cNvPr>
          <p:cNvSpPr/>
          <p:nvPr/>
        </p:nvSpPr>
        <p:spPr>
          <a:xfrm>
            <a:off x="761335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DE215B52-182D-422C-9AC7-633BDD0CA4F3}"/>
              </a:ext>
            </a:extLst>
          </p:cNvPr>
          <p:cNvSpPr/>
          <p:nvPr/>
        </p:nvSpPr>
        <p:spPr>
          <a:xfrm>
            <a:off x="976219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7BCBD65-D4D8-4B51-99E3-813562873E32}"/>
              </a:ext>
            </a:extLst>
          </p:cNvPr>
          <p:cNvSpPr/>
          <p:nvPr/>
        </p:nvSpPr>
        <p:spPr>
          <a:xfrm>
            <a:off x="761335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B669F79-DFDF-4D5E-91E2-4A4E78B1607B}"/>
              </a:ext>
            </a:extLst>
          </p:cNvPr>
          <p:cNvSpPr/>
          <p:nvPr/>
        </p:nvSpPr>
        <p:spPr>
          <a:xfrm>
            <a:off x="976219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56203E5D-61B2-43D2-8EEA-014F80921065}"/>
              </a:ext>
            </a:extLst>
          </p:cNvPr>
          <p:cNvCxnSpPr>
            <a:cxnSpLocks/>
            <a:stCxn id="75" idx="6"/>
            <a:endCxn id="76" idx="2"/>
          </p:cNvCxnSpPr>
          <p:nvPr/>
        </p:nvCxnSpPr>
        <p:spPr>
          <a:xfrm>
            <a:off x="8014677" y="3211644"/>
            <a:ext cx="174752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화살표: 오른쪽 77">
            <a:extLst>
              <a:ext uri="{FF2B5EF4-FFF2-40B4-BE49-F238E27FC236}">
                <a16:creationId xmlns:a16="http://schemas.microsoft.com/office/drawing/2014/main" id="{AF319327-57E1-44AE-9035-BCB31C226535}"/>
              </a:ext>
            </a:extLst>
          </p:cNvPr>
          <p:cNvSpPr/>
          <p:nvPr/>
        </p:nvSpPr>
        <p:spPr>
          <a:xfrm>
            <a:off x="5542660" y="2250242"/>
            <a:ext cx="1019390" cy="585687"/>
          </a:xfrm>
          <a:prstGeom prst="rightArrow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F212CD-5C27-4D84-94E9-3019E65294CD}"/>
              </a:ext>
            </a:extLst>
          </p:cNvPr>
          <p:cNvSpPr txBox="1"/>
          <p:nvPr/>
        </p:nvSpPr>
        <p:spPr>
          <a:xfrm>
            <a:off x="5343637" y="1690237"/>
            <a:ext cx="1650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Link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53C156-C194-4476-8BE1-58AF336F792C}"/>
                  </a:ext>
                </a:extLst>
              </p:cNvPr>
              <p:cNvSpPr txBox="1"/>
              <p:nvPr/>
            </p:nvSpPr>
            <p:spPr>
              <a:xfrm>
                <a:off x="1840784" y="1366468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53C156-C194-4476-8BE1-58AF336F7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784" y="1366468"/>
                <a:ext cx="298159" cy="215444"/>
              </a:xfrm>
              <a:prstGeom prst="rect">
                <a:avLst/>
              </a:prstGeom>
              <a:blipFill>
                <a:blip r:embed="rId3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EDB36BF-E42F-4F7D-888E-CF4653596DBB}"/>
                  </a:ext>
                </a:extLst>
              </p:cNvPr>
              <p:cNvSpPr txBox="1"/>
              <p:nvPr/>
            </p:nvSpPr>
            <p:spPr>
              <a:xfrm>
                <a:off x="4007502" y="1361195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EDB36BF-E42F-4F7D-888E-CF4653596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502" y="1361195"/>
                <a:ext cx="298159" cy="215444"/>
              </a:xfrm>
              <a:prstGeom prst="rect">
                <a:avLst/>
              </a:prstGeom>
              <a:blipFill>
                <a:blip r:embed="rId4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BC517A-7929-40D3-AC73-2F4D88F08846}"/>
                  </a:ext>
                </a:extLst>
              </p:cNvPr>
              <p:cNvSpPr txBox="1"/>
              <p:nvPr/>
            </p:nvSpPr>
            <p:spPr>
              <a:xfrm>
                <a:off x="1858497" y="309869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BC517A-7929-40D3-AC73-2F4D88F0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497" y="3098699"/>
                <a:ext cx="298159" cy="215444"/>
              </a:xfrm>
              <a:prstGeom prst="rect">
                <a:avLst/>
              </a:prstGeom>
              <a:blipFill>
                <a:blip r:embed="rId5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634874-481B-4BFC-ABCB-991F81718389}"/>
                  </a:ext>
                </a:extLst>
              </p:cNvPr>
              <p:cNvSpPr txBox="1"/>
              <p:nvPr/>
            </p:nvSpPr>
            <p:spPr>
              <a:xfrm>
                <a:off x="4007337" y="309932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634874-481B-4BFC-ABCB-991F81718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337" y="3099329"/>
                <a:ext cx="298159" cy="215444"/>
              </a:xfrm>
              <a:prstGeom prst="rect">
                <a:avLst/>
              </a:prstGeom>
              <a:blipFill>
                <a:blip r:embed="rId6"/>
                <a:stretch>
                  <a:fillRect l="-10204" r="-10204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2F2B616-1668-4D83-800A-A2FBEE95DB60}"/>
                  </a:ext>
                </a:extLst>
              </p:cNvPr>
              <p:cNvSpPr txBox="1"/>
              <p:nvPr/>
            </p:nvSpPr>
            <p:spPr>
              <a:xfrm>
                <a:off x="7651777" y="1365838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2F2B616-1668-4D83-800A-A2FBEE95D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777" y="1365838"/>
                <a:ext cx="298159" cy="215444"/>
              </a:xfrm>
              <a:prstGeom prst="rect">
                <a:avLst/>
              </a:prstGeom>
              <a:blipFill>
                <a:blip r:embed="rId3"/>
                <a:stretch>
                  <a:fillRect l="-10204" r="-8163"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B8312A4-C7B0-4D16-B261-4441C142717C}"/>
                  </a:ext>
                </a:extLst>
              </p:cNvPr>
              <p:cNvSpPr txBox="1"/>
              <p:nvPr/>
            </p:nvSpPr>
            <p:spPr>
              <a:xfrm>
                <a:off x="9818495" y="1360565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B8312A4-C7B0-4D16-B261-4441C142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495" y="1360565"/>
                <a:ext cx="298159" cy="215444"/>
              </a:xfrm>
              <a:prstGeom prst="rect">
                <a:avLst/>
              </a:prstGeom>
              <a:blipFill>
                <a:blip r:embed="rId4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224C30B-43EF-47D4-9E8D-C292316BBB56}"/>
                  </a:ext>
                </a:extLst>
              </p:cNvPr>
              <p:cNvSpPr txBox="1"/>
              <p:nvPr/>
            </p:nvSpPr>
            <p:spPr>
              <a:xfrm>
                <a:off x="7669490" y="309806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224C30B-43EF-47D4-9E8D-C292316BB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490" y="3098069"/>
                <a:ext cx="298159" cy="215444"/>
              </a:xfrm>
              <a:prstGeom prst="rect">
                <a:avLst/>
              </a:prstGeom>
              <a:blipFill>
                <a:blip r:embed="rId5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C0811E5-039D-4A5D-A85D-FB454E1BC293}"/>
                  </a:ext>
                </a:extLst>
              </p:cNvPr>
              <p:cNvSpPr txBox="1"/>
              <p:nvPr/>
            </p:nvSpPr>
            <p:spPr>
              <a:xfrm>
                <a:off x="9818330" y="309869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C0811E5-039D-4A5D-A85D-FB454E1B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330" y="3098699"/>
                <a:ext cx="298159" cy="215444"/>
              </a:xfrm>
              <a:prstGeom prst="rect">
                <a:avLst/>
              </a:prstGeom>
              <a:blipFill>
                <a:blip r:embed="rId7"/>
                <a:stretch>
                  <a:fillRect l="-10204" r="-8163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1BDA96-7B9E-45A3-AA42-F237DA265487}"/>
                  </a:ext>
                </a:extLst>
              </p:cNvPr>
              <p:cNvSpPr txBox="1"/>
              <p:nvPr/>
            </p:nvSpPr>
            <p:spPr>
              <a:xfrm>
                <a:off x="2464969" y="2219922"/>
                <a:ext cx="1234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1BDA96-7B9E-45A3-AA42-F237DA265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69" y="2219922"/>
                <a:ext cx="1234056" cy="369332"/>
              </a:xfrm>
              <a:prstGeom prst="rect">
                <a:avLst/>
              </a:prstGeom>
              <a:blipFill>
                <a:blip r:embed="rId8"/>
                <a:stretch>
                  <a:fillRect l="-985" r="-4926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C5D299-2813-4239-B167-31415D64C7FB}"/>
                  </a:ext>
                </a:extLst>
              </p:cNvPr>
              <p:cNvSpPr txBox="1"/>
              <p:nvPr/>
            </p:nvSpPr>
            <p:spPr>
              <a:xfrm>
                <a:off x="8305911" y="2140767"/>
                <a:ext cx="1234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=0.92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C5D299-2813-4239-B167-31415D64C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911" y="2140767"/>
                <a:ext cx="1234056" cy="369332"/>
              </a:xfrm>
              <a:prstGeom prst="rect">
                <a:avLst/>
              </a:prstGeom>
              <a:blipFill>
                <a:blip r:embed="rId9"/>
                <a:stretch>
                  <a:fillRect l="-1485" r="-4455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EF9FD6-BFC1-400D-97E9-D94295D21EA5}"/>
              </a:ext>
            </a:extLst>
          </p:cNvPr>
          <p:cNvSpPr/>
          <p:nvPr/>
        </p:nvSpPr>
        <p:spPr>
          <a:xfrm>
            <a:off x="5273203" y="3881455"/>
            <a:ext cx="1558303" cy="1182482"/>
          </a:xfrm>
          <a:prstGeom prst="round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41CE9DB3-62FB-44BB-879D-75A8714A305E}"/>
              </a:ext>
            </a:extLst>
          </p:cNvPr>
          <p:cNvSpPr/>
          <p:nvPr/>
        </p:nvSpPr>
        <p:spPr>
          <a:xfrm>
            <a:off x="3909190" y="4153333"/>
            <a:ext cx="1019390" cy="5856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201AD1D5-607B-4F9C-9B1E-4888A9326581}"/>
              </a:ext>
            </a:extLst>
          </p:cNvPr>
          <p:cNvSpPr/>
          <p:nvPr/>
        </p:nvSpPr>
        <p:spPr>
          <a:xfrm>
            <a:off x="7061329" y="4153333"/>
            <a:ext cx="1019390" cy="5856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1F56D6-2A4B-49B5-B8D1-8AE0AF3194B5}"/>
              </a:ext>
            </a:extLst>
          </p:cNvPr>
          <p:cNvSpPr txBox="1"/>
          <p:nvPr/>
        </p:nvSpPr>
        <p:spPr>
          <a:xfrm>
            <a:off x="5227247" y="4011031"/>
            <a:ext cx="1650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Algorithm</a:t>
            </a:r>
          </a:p>
          <a:p>
            <a:pPr algn="ctr"/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</a:t>
            </a:r>
          </a:p>
          <a:p>
            <a:pPr algn="ctr"/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2E8D6D7-4D03-4307-B5DD-C390202D00C4}"/>
                  </a:ext>
                </a:extLst>
              </p:cNvPr>
              <p:cNvSpPr txBox="1"/>
              <p:nvPr/>
            </p:nvSpPr>
            <p:spPr>
              <a:xfrm>
                <a:off x="974585" y="4116798"/>
                <a:ext cx="2878856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Network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600" b="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  <a:p>
                <a:pPr algn="ctr"/>
                <a:r>
                  <a:rPr lang="en-US" altLang="ko-KR" sz="16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Natural frequency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서울남산체 B" panose="02020503020101020101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𝜔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서울남산체 B" panose="02020503020101020101" pitchFamily="18" charset="-127"/>
                      </a:rPr>
                      <m:t>)</m:t>
                    </m:r>
                  </m:oMath>
                </a14:m>
                <a:endParaRPr lang="en-US" altLang="ko-KR" sz="16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2E8D6D7-4D03-4307-B5DD-C390202D0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85" y="4116798"/>
                <a:ext cx="2878856" cy="622222"/>
              </a:xfrm>
              <a:prstGeom prst="rect">
                <a:avLst/>
              </a:prstGeom>
              <a:blipFill>
                <a:blip r:embed="rId10"/>
                <a:stretch>
                  <a:fillRect t="-980"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0B704AE-D823-486E-8DFD-B07F56E96604}"/>
                  </a:ext>
                </a:extLst>
              </p:cNvPr>
              <p:cNvSpPr txBox="1"/>
              <p:nvPr/>
            </p:nvSpPr>
            <p:spPr>
              <a:xfrm>
                <a:off x="8080719" y="4133806"/>
                <a:ext cx="27365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Optimal link addition</a:t>
                </a:r>
              </a:p>
              <a:p>
                <a:pPr algn="ctr"/>
                <a:r>
                  <a:rPr lang="en-US" altLang="ko-KR" dirty="0"/>
                  <a:t>(highest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0B704AE-D823-486E-8DFD-B07F56E9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719" y="4133806"/>
                <a:ext cx="2736579" cy="646331"/>
              </a:xfrm>
              <a:prstGeom prst="rect">
                <a:avLst/>
              </a:prstGeom>
              <a:blipFill>
                <a:blip r:embed="rId11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EE21EA6-864E-4E9F-89BC-59072EFFB116}"/>
                  </a:ext>
                </a:extLst>
              </p:cNvPr>
              <p:cNvSpPr txBox="1"/>
              <p:nvPr/>
            </p:nvSpPr>
            <p:spPr>
              <a:xfrm>
                <a:off x="261545" y="5592982"/>
                <a:ext cx="11060054" cy="88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SeoulNamsanC M" panose="02020503020101020101" pitchFamily="18" charset="-127"/>
                    <a:ea typeface="SeoulNamsanC M" panose="02020503020101020101" pitchFamily="18" charset="-127"/>
                  </a:rPr>
                  <a:t>Goal: find optimal link additions using the network structure and natural frequencies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SeoulNamsanC M" panose="02020503020101020101" pitchFamily="18" charset="-127"/>
                    <a:ea typeface="SeoulNamsanC M" panose="02020503020101020101" pitchFamily="18" charset="-127"/>
                  </a:rPr>
                  <a:t>Metric: final order parameter </a:t>
                </a:r>
                <a14:m>
                  <m:oMath xmlns:m="http://schemas.openxmlformats.org/officeDocument/2006/math">
                    <m:r>
                      <a:rPr lang="en-US" altLang="ko-KR"/>
                      <m:t>(</m:t>
                    </m:r>
                    <m:r>
                      <a:rPr lang="en-US" altLang="ko-KR"/>
                      <m:t>𝒓</m:t>
                    </m:r>
                    <m:r>
                      <a:rPr lang="en-US" altLang="ko-KR"/>
                      <m:t>)</m:t>
                    </m:r>
                  </m:oMath>
                </a14:m>
                <a:endParaRPr lang="en-US" altLang="ko-KR" dirty="0">
                  <a:latin typeface="SeoulNamsanC M" panose="02020503020101020101" pitchFamily="18" charset="-127"/>
                  <a:ea typeface="SeoulNamsanC M" panose="02020503020101020101" pitchFamily="18" charset="-127"/>
                </a:endParaRPr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EE21EA6-864E-4E9F-89BC-59072EFFB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45" y="5592982"/>
                <a:ext cx="11060054" cy="888705"/>
              </a:xfrm>
              <a:prstGeom prst="rect">
                <a:avLst/>
              </a:prstGeom>
              <a:blipFill>
                <a:blip r:embed="rId12"/>
                <a:stretch>
                  <a:fillRect l="-386" b="-10274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7E34C5-BC72-468B-B2D8-AF16C27B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73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178">
            <a:extLst>
              <a:ext uri="{FF2B5EF4-FFF2-40B4-BE49-F238E27FC236}">
                <a16:creationId xmlns:a16="http://schemas.microsoft.com/office/drawing/2014/main" id="{AA0E1EF0-DE0B-4C9B-85C7-6C6895007959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5833"/>
            <a:ext cx="1106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SAF method</a:t>
            </a:r>
            <a:r>
              <a:rPr baseline="30000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1)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: Find a function that corresponds to the network input and the order parameter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When the interaction is sufficiently strong, the Kuramoto model can be linearized and expressed in matrix form.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25469" y="133634"/>
            <a:ext cx="548868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Stready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state of the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/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7C1965D7-C584-4A40-B6C3-6E8FECC83E2E}"/>
              </a:ext>
            </a:extLst>
          </p:cNvPr>
          <p:cNvSpPr/>
          <p:nvPr/>
        </p:nvSpPr>
        <p:spPr>
          <a:xfrm>
            <a:off x="2995023" y="1770475"/>
            <a:ext cx="513080" cy="768968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/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/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9F1DD558-4256-483B-985F-74D8B7D51166}"/>
              </a:ext>
            </a:extLst>
          </p:cNvPr>
          <p:cNvSpPr/>
          <p:nvPr/>
        </p:nvSpPr>
        <p:spPr>
          <a:xfrm>
            <a:off x="2481943" y="3269080"/>
            <a:ext cx="513080" cy="781752"/>
          </a:xfrm>
          <a:prstGeom prst="downArrow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98850B0-C894-4519-BA48-508BE59F7834}"/>
              </a:ext>
            </a:extLst>
          </p:cNvPr>
          <p:cNvSpPr/>
          <p:nvPr/>
        </p:nvSpPr>
        <p:spPr>
          <a:xfrm>
            <a:off x="2441576" y="4226881"/>
            <a:ext cx="621875" cy="43180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3FD43B7-115F-43EB-B1D2-C580B129B84F}"/>
              </a:ext>
            </a:extLst>
          </p:cNvPr>
          <p:cNvSpPr/>
          <p:nvPr/>
        </p:nvSpPr>
        <p:spPr>
          <a:xfrm>
            <a:off x="2441575" y="2656317"/>
            <a:ext cx="1393005" cy="49588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641453-A60A-4812-B793-02BDFF91E4B6}"/>
              </a:ext>
            </a:extLst>
          </p:cNvPr>
          <p:cNvSpPr/>
          <p:nvPr/>
        </p:nvSpPr>
        <p:spPr>
          <a:xfrm>
            <a:off x="2797980" y="1234651"/>
            <a:ext cx="1339996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91B7D5A-F36C-4FC2-9CE8-4A1FF948D54E}"/>
              </a:ext>
            </a:extLst>
          </p:cNvPr>
          <p:cNvSpPr/>
          <p:nvPr/>
        </p:nvSpPr>
        <p:spPr>
          <a:xfrm>
            <a:off x="2797979" y="2725633"/>
            <a:ext cx="935469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7AA279-EDC5-4695-A005-1BC8493368BF}"/>
              </a:ext>
            </a:extLst>
          </p:cNvPr>
          <p:cNvSpPr txBox="1"/>
          <p:nvPr/>
        </p:nvSpPr>
        <p:spPr>
          <a:xfrm>
            <a:off x="3564049" y="1923487"/>
            <a:ext cx="2227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Strong coupling regime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/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1100" i="1" dirty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≈</m:t>
                      </m:r>
                      <m:r>
                        <a:rPr lang="en-US" altLang="ko-KR" sz="1100" b="0" i="1" dirty="0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𝜃</m:t>
                      </m:r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/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643B9AE-89AF-4065-8688-30D2C826B55A}"/>
              </a:ext>
            </a:extLst>
          </p:cNvPr>
          <p:cNvSpPr txBox="1"/>
          <p:nvPr/>
        </p:nvSpPr>
        <p:spPr>
          <a:xfrm>
            <a:off x="3063451" y="3230035"/>
            <a:ext cx="1302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Laplace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/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1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 =i’s degree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14A8C-929C-44F4-88B6-29445ABF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2" name="Shape 179">
            <a:extLst>
              <a:ext uri="{FF2B5EF4-FFF2-40B4-BE49-F238E27FC236}">
                <a16:creationId xmlns:a16="http://schemas.microsoft.com/office/drawing/2014/main" id="{1F419653-B847-4B9E-89BF-6C8B5563D5E7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3D8E02-FD59-4872-86C8-913C27AB7AEF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fr-FR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Lei et al. (2023), Chaos, Solitons &amp; Fractals, 168.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71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178">
            <a:extLst>
              <a:ext uri="{FF2B5EF4-FFF2-40B4-BE49-F238E27FC236}">
                <a16:creationId xmlns:a16="http://schemas.microsoft.com/office/drawing/2014/main" id="{1895A00A-61BB-49D3-9B0A-92C568EA9D4F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5DED8E-80F7-4324-B2DA-74CD35937B28}"/>
              </a:ext>
            </a:extLst>
          </p:cNvPr>
          <p:cNvSpPr/>
          <p:nvPr/>
        </p:nvSpPr>
        <p:spPr>
          <a:xfrm>
            <a:off x="8348946" y="3115910"/>
            <a:ext cx="1887253" cy="115129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5833"/>
            <a:ext cx="11060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SAF method</a:t>
            </a:r>
            <a:r>
              <a:rPr lang="en-AT" baseline="30000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1)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: Find a function that corresponds to the network input and the order parameter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When the interaction is sufficiently strong, the Kuramoto model can be linearized and expressed in matrix 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phase vector of the system can be obtained from the input.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25469" y="133634"/>
            <a:ext cx="548868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Stready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state of the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/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7C1965D7-C584-4A40-B6C3-6E8FECC83E2E}"/>
              </a:ext>
            </a:extLst>
          </p:cNvPr>
          <p:cNvSpPr/>
          <p:nvPr/>
        </p:nvSpPr>
        <p:spPr>
          <a:xfrm>
            <a:off x="2995023" y="1770475"/>
            <a:ext cx="513080" cy="768968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/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/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9F1DD558-4256-483B-985F-74D8B7D51166}"/>
              </a:ext>
            </a:extLst>
          </p:cNvPr>
          <p:cNvSpPr/>
          <p:nvPr/>
        </p:nvSpPr>
        <p:spPr>
          <a:xfrm>
            <a:off x="2481943" y="3269080"/>
            <a:ext cx="513080" cy="781752"/>
          </a:xfrm>
          <a:prstGeom prst="downArrow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98850B0-C894-4519-BA48-508BE59F7834}"/>
              </a:ext>
            </a:extLst>
          </p:cNvPr>
          <p:cNvSpPr/>
          <p:nvPr/>
        </p:nvSpPr>
        <p:spPr>
          <a:xfrm>
            <a:off x="2441576" y="4226881"/>
            <a:ext cx="621875" cy="43180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3FD43B7-115F-43EB-B1D2-C580B129B84F}"/>
              </a:ext>
            </a:extLst>
          </p:cNvPr>
          <p:cNvSpPr/>
          <p:nvPr/>
        </p:nvSpPr>
        <p:spPr>
          <a:xfrm>
            <a:off x="2441575" y="2656317"/>
            <a:ext cx="1393005" cy="49588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641453-A60A-4812-B793-02BDFF91E4B6}"/>
              </a:ext>
            </a:extLst>
          </p:cNvPr>
          <p:cNvSpPr/>
          <p:nvPr/>
        </p:nvSpPr>
        <p:spPr>
          <a:xfrm>
            <a:off x="2797980" y="1234651"/>
            <a:ext cx="1339996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91B7D5A-F36C-4FC2-9CE8-4A1FF948D54E}"/>
              </a:ext>
            </a:extLst>
          </p:cNvPr>
          <p:cNvSpPr/>
          <p:nvPr/>
        </p:nvSpPr>
        <p:spPr>
          <a:xfrm>
            <a:off x="2797979" y="2725633"/>
            <a:ext cx="935469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7AA279-EDC5-4695-A005-1BC8493368BF}"/>
              </a:ext>
            </a:extLst>
          </p:cNvPr>
          <p:cNvSpPr txBox="1"/>
          <p:nvPr/>
        </p:nvSpPr>
        <p:spPr>
          <a:xfrm>
            <a:off x="3564049" y="1923487"/>
            <a:ext cx="2227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Strong coupling regime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/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1100" i="1" dirty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≈</m:t>
                      </m:r>
                      <m:r>
                        <a:rPr lang="en-US" altLang="ko-KR" sz="1100" b="0" i="1" dirty="0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𝜃</m:t>
                      </m:r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/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643B9AE-89AF-4065-8688-30D2C826B55A}"/>
              </a:ext>
            </a:extLst>
          </p:cNvPr>
          <p:cNvSpPr txBox="1"/>
          <p:nvPr/>
        </p:nvSpPr>
        <p:spPr>
          <a:xfrm>
            <a:off x="3063451" y="3230035"/>
            <a:ext cx="1302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Laplace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/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1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 =i’s degree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EADB53CB-D98C-43B5-B927-15F581574D37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063451" y="1396349"/>
            <a:ext cx="4990575" cy="3046432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472CA5-7940-451A-B933-DF972D0DDE1A}"/>
                  </a:ext>
                </a:extLst>
              </p:cNvPr>
              <p:cNvSpPr txBox="1"/>
              <p:nvPr/>
            </p:nvSpPr>
            <p:spPr>
              <a:xfrm>
                <a:off x="5895588" y="906480"/>
                <a:ext cx="1937023" cy="368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Steady state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200" b="1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200" b="1" i="1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𝒅</m:t>
                            </m:r>
                            <m:sSub>
                              <m:sSubPr>
                                <m:ctrlPr>
                                  <a:rPr lang="en-US" altLang="ko-KR" sz="1200" b="1" i="1">
                                    <a:latin typeface="Cambria Math" panose="02040503050406030204" pitchFamily="18" charset="0"/>
                                    <a:ea typeface="서울남산체 B" panose="0202050302010102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1" i="1">
                                    <a:latin typeface="Cambria Math" panose="02040503050406030204" pitchFamily="18" charset="0"/>
                                    <a:ea typeface="서울남산체 B" panose="02020503020101020101" pitchFamily="18" charset="-127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sz="1200" b="1" i="1">
                                    <a:latin typeface="Cambria Math" panose="02040503050406030204" pitchFamily="18" charset="0"/>
                                    <a:ea typeface="서울남산체 B" panose="02020503020101020101" pitchFamily="18" charset="-127"/>
                                  </a:rPr>
                                  <m:t>𝒊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𝒅𝒕</m:t>
                            </m:r>
                          </m:den>
                        </m:f>
                        <m:r>
                          <a:rPr lang="en-US" altLang="ko-KR" sz="1200" b="1" i="1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=</m:t>
                        </m:r>
                        <m:r>
                          <a:rPr lang="en-US" altLang="ko-KR" sz="1200" b="1" i="1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𝟎</m:t>
                        </m:r>
                      </m:e>
                    </m:d>
                  </m:oMath>
                </a14:m>
                <a:endParaRPr lang="en-US" altLang="ko-KR" sz="1200" b="1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472CA5-7940-451A-B933-DF972D0DD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588" y="906480"/>
                <a:ext cx="1937023" cy="3687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6290C-ADF9-4A63-907E-35DA1C90BA83}"/>
                  </a:ext>
                </a:extLst>
              </p:cNvPr>
              <p:cNvSpPr txBox="1"/>
              <p:nvPr/>
            </p:nvSpPr>
            <p:spPr>
              <a:xfrm>
                <a:off x="8194977" y="1193954"/>
                <a:ext cx="21497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6290C-ADF9-4A63-907E-35DA1C90B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7" y="1193954"/>
                <a:ext cx="2149753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AB0F7-87EF-4322-A64C-B2A255AE4869}"/>
                  </a:ext>
                </a:extLst>
              </p:cNvPr>
              <p:cNvSpPr txBox="1"/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AB0F7-87EF-4322-A64C-B2A255AE4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8D3FC5-A992-4743-B41F-5F18D1985938}"/>
                  </a:ext>
                </a:extLst>
              </p:cNvPr>
              <p:cNvSpPr txBox="1"/>
              <p:nvPr/>
            </p:nvSpPr>
            <p:spPr>
              <a:xfrm>
                <a:off x="5869617" y="2141396"/>
                <a:ext cx="1719896" cy="5228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8D3FC5-A992-4743-B41F-5F18D1985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617" y="2141396"/>
                <a:ext cx="1719896" cy="522835"/>
              </a:xfrm>
              <a:prstGeom prst="rect">
                <a:avLst/>
              </a:prstGeom>
              <a:blipFill>
                <a:blip r:embed="rId12"/>
                <a:stretch>
                  <a:fillRect l="-3191" t="-144186" r="-26241" b="-20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00FB5A67-9269-4087-B16D-FCB458EB46A6}"/>
              </a:ext>
            </a:extLst>
          </p:cNvPr>
          <p:cNvSpPr txBox="1"/>
          <p:nvPr/>
        </p:nvSpPr>
        <p:spPr>
          <a:xfrm>
            <a:off x="5906533" y="1801790"/>
            <a:ext cx="1752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Moore-Penrose inverse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A9A65DB-FDDC-426B-B0A9-95C5825DF180}"/>
              </a:ext>
            </a:extLst>
          </p:cNvPr>
          <p:cNvSpPr/>
          <p:nvPr/>
        </p:nvSpPr>
        <p:spPr>
          <a:xfrm>
            <a:off x="5791572" y="1689319"/>
            <a:ext cx="1937023" cy="11172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14A8C-929C-44F4-88B6-29445ABF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2" name="Shape 1082">
            <a:extLst>
              <a:ext uri="{FF2B5EF4-FFF2-40B4-BE49-F238E27FC236}">
                <a16:creationId xmlns:a16="http://schemas.microsoft.com/office/drawing/2014/main" id="{29757F8D-E394-431C-9749-2406E9743665}"/>
              </a:ext>
            </a:extLst>
          </p:cNvPr>
          <p:cNvSpPr/>
          <p:nvPr/>
        </p:nvSpPr>
        <p:spPr>
          <a:xfrm rot="5400000" flipH="1">
            <a:off x="9860195" y="4004598"/>
            <a:ext cx="656315" cy="454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8" name="Shape 1082">
            <a:extLst>
              <a:ext uri="{FF2B5EF4-FFF2-40B4-BE49-F238E27FC236}">
                <a16:creationId xmlns:a16="http://schemas.microsoft.com/office/drawing/2014/main" id="{1BAF2D9D-D20D-4675-B99C-897CC2B379D1}"/>
              </a:ext>
            </a:extLst>
          </p:cNvPr>
          <p:cNvSpPr/>
          <p:nvPr/>
        </p:nvSpPr>
        <p:spPr>
          <a:xfrm rot="5400000" flipH="1">
            <a:off x="9541714" y="4017625"/>
            <a:ext cx="987313" cy="760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44" name="Shape 1082">
            <a:extLst>
              <a:ext uri="{FF2B5EF4-FFF2-40B4-BE49-F238E27FC236}">
                <a16:creationId xmlns:a16="http://schemas.microsoft.com/office/drawing/2014/main" id="{64B3A529-4DDA-448B-A322-3178D1BC0CE2}"/>
              </a:ext>
            </a:extLst>
          </p:cNvPr>
          <p:cNvSpPr/>
          <p:nvPr/>
        </p:nvSpPr>
        <p:spPr>
          <a:xfrm rot="5400000" flipH="1" flipV="1">
            <a:off x="7969810" y="4018253"/>
            <a:ext cx="800107" cy="57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8E22AF-D2D9-4351-922C-13822211719D}"/>
              </a:ext>
            </a:extLst>
          </p:cNvPr>
          <p:cNvSpPr txBox="1"/>
          <p:nvPr/>
        </p:nvSpPr>
        <p:spPr>
          <a:xfrm>
            <a:off x="10458408" y="4110007"/>
            <a:ext cx="159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/>
              <a:t>Frequency vector (input)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104235-9497-43DF-96DB-E3B0828ED556}"/>
              </a:ext>
            </a:extLst>
          </p:cNvPr>
          <p:cNvSpPr txBox="1"/>
          <p:nvPr/>
        </p:nvSpPr>
        <p:spPr>
          <a:xfrm>
            <a:off x="5477348" y="4568401"/>
            <a:ext cx="264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Phase vector (output)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607599-9713-4A1A-AA74-FC11378C47A2}"/>
              </a:ext>
            </a:extLst>
          </p:cNvPr>
          <p:cNvSpPr txBox="1"/>
          <p:nvPr/>
        </p:nvSpPr>
        <p:spPr>
          <a:xfrm>
            <a:off x="10393744" y="4742101"/>
            <a:ext cx="1723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/>
              <a:t>Network structure (input)</a:t>
            </a:r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B1209D27-0425-426F-B588-48AAAA9ED493}"/>
              </a:ext>
            </a:extLst>
          </p:cNvPr>
          <p:cNvSpPr/>
          <p:nvPr/>
        </p:nvSpPr>
        <p:spPr>
          <a:xfrm rot="10800000" flipV="1">
            <a:off x="9036685" y="1799053"/>
            <a:ext cx="565041" cy="1111787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Shape 179">
            <a:extLst>
              <a:ext uri="{FF2B5EF4-FFF2-40B4-BE49-F238E27FC236}">
                <a16:creationId xmlns:a16="http://schemas.microsoft.com/office/drawing/2014/main" id="{1106998D-864E-48CC-9F29-0D0F4FC4BF97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03B6A0-959B-48E1-B49D-D8CDAF06FD34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fr-FR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Lei et al. (2023), Chaos, Solitons &amp; Fractals, 168.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435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8">
            <a:extLst>
              <a:ext uri="{FF2B5EF4-FFF2-40B4-BE49-F238E27FC236}">
                <a16:creationId xmlns:a16="http://schemas.microsoft.com/office/drawing/2014/main" id="{BD11E51A-5A94-4585-941B-675AC3A95BDC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91107" y="133634"/>
            <a:ext cx="555741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Synchrony Alignment Function (SAF)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/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AAFFB4-FF69-4F2E-A10F-540F6AD7C1C8}"/>
              </a:ext>
            </a:extLst>
          </p:cNvPr>
          <p:cNvCxnSpPr/>
          <p:nvPr/>
        </p:nvCxnSpPr>
        <p:spPr>
          <a:xfrm flipV="1">
            <a:off x="2129906" y="2144909"/>
            <a:ext cx="538090" cy="5994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856B4DF-3D42-47DE-98B1-559BD1B9C89F}"/>
              </a:ext>
            </a:extLst>
          </p:cNvPr>
          <p:cNvSpPr/>
          <p:nvPr/>
        </p:nvSpPr>
        <p:spPr>
          <a:xfrm>
            <a:off x="1053143" y="3929246"/>
            <a:ext cx="1390800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E61150-2262-495D-BEF7-1674F85C6542}"/>
              </a:ext>
            </a:extLst>
          </p:cNvPr>
          <p:cNvSpPr/>
          <p:nvPr/>
        </p:nvSpPr>
        <p:spPr>
          <a:xfrm>
            <a:off x="606791" y="1236397"/>
            <a:ext cx="316037" cy="31429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820277-AC1D-4CE4-9093-8FBBC0E5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73E9B-1ACC-4632-B773-9D41B4485BCC}"/>
              </a:ext>
            </a:extLst>
          </p:cNvPr>
          <p:cNvSpPr txBox="1"/>
          <p:nvPr/>
        </p:nvSpPr>
        <p:spPr>
          <a:xfrm>
            <a:off x="215193" y="5081047"/>
            <a:ext cx="1106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order parameter of the system can also be approximated by a determinant in the strong coupling regime.</a:t>
            </a:r>
          </a:p>
        </p:txBody>
      </p:sp>
      <p:sp>
        <p:nvSpPr>
          <p:cNvPr id="24" name="Shape 179">
            <a:extLst>
              <a:ext uri="{FF2B5EF4-FFF2-40B4-BE49-F238E27FC236}">
                <a16:creationId xmlns:a16="http://schemas.microsoft.com/office/drawing/2014/main" id="{4834D333-CA52-4706-A0F7-8EDC41F29A66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0368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78">
            <a:extLst>
              <a:ext uri="{FF2B5EF4-FFF2-40B4-BE49-F238E27FC236}">
                <a16:creationId xmlns:a16="http://schemas.microsoft.com/office/drawing/2014/main" id="{A6D06B22-C91E-4824-8241-7B1563749B0B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91107" y="133634"/>
            <a:ext cx="555741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Synchrony Alignment Function (SAF)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2307236-8F4F-441E-B50C-64304B401C53}"/>
              </a:ext>
            </a:extLst>
          </p:cNvPr>
          <p:cNvSpPr/>
          <p:nvPr/>
        </p:nvSpPr>
        <p:spPr>
          <a:xfrm>
            <a:off x="8194031" y="875898"/>
            <a:ext cx="2866053" cy="1150772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E7BE17-9338-46E5-851F-B78F081A3E55}"/>
                  </a:ext>
                </a:extLst>
              </p:cNvPr>
              <p:cNvSpPr txBox="1"/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E7BE17-9338-46E5-851F-B78F081A3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/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B8B642D9-C74F-4E23-BFD4-8D8B93D38744}"/>
              </a:ext>
            </a:extLst>
          </p:cNvPr>
          <p:cNvCxnSpPr>
            <a:cxnSpLocks/>
          </p:cNvCxnSpPr>
          <p:nvPr/>
        </p:nvCxnSpPr>
        <p:spPr>
          <a:xfrm flipV="1">
            <a:off x="2443943" y="1396349"/>
            <a:ext cx="5610083" cy="2979455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/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253FC7B6-CA45-4639-8FF3-383753F705AB}"/>
              </a:ext>
            </a:extLst>
          </p:cNvPr>
          <p:cNvSpPr/>
          <p:nvPr/>
        </p:nvSpPr>
        <p:spPr>
          <a:xfrm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729B39D-D943-4964-B9CC-06430DFD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2" name="Shape 1082">
            <a:extLst>
              <a:ext uri="{FF2B5EF4-FFF2-40B4-BE49-F238E27FC236}">
                <a16:creationId xmlns:a16="http://schemas.microsoft.com/office/drawing/2014/main" id="{C70D5357-69F8-41C5-AA9B-B83CC5E610BD}"/>
              </a:ext>
            </a:extLst>
          </p:cNvPr>
          <p:cNvSpPr/>
          <p:nvPr/>
        </p:nvSpPr>
        <p:spPr>
          <a:xfrm rot="5400000" flipH="1">
            <a:off x="9309239" y="2373582"/>
            <a:ext cx="1607833" cy="2619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3" name="Shape 1082">
            <a:extLst>
              <a:ext uri="{FF2B5EF4-FFF2-40B4-BE49-F238E27FC236}">
                <a16:creationId xmlns:a16="http://schemas.microsoft.com/office/drawing/2014/main" id="{7704C594-DC25-4441-AA0E-9D3EC023090D}"/>
              </a:ext>
            </a:extLst>
          </p:cNvPr>
          <p:cNvSpPr/>
          <p:nvPr/>
        </p:nvSpPr>
        <p:spPr>
          <a:xfrm rot="5400000" flipH="1">
            <a:off x="9875196" y="2202820"/>
            <a:ext cx="1144682" cy="143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4" name="Shape 1082">
            <a:extLst>
              <a:ext uri="{FF2B5EF4-FFF2-40B4-BE49-F238E27FC236}">
                <a16:creationId xmlns:a16="http://schemas.microsoft.com/office/drawing/2014/main" id="{A333031A-7C63-4B6B-AA66-C8E74CD25472}"/>
              </a:ext>
            </a:extLst>
          </p:cNvPr>
          <p:cNvSpPr/>
          <p:nvPr/>
        </p:nvSpPr>
        <p:spPr>
          <a:xfrm rot="5400000" flipH="1" flipV="1">
            <a:off x="7702806" y="1796409"/>
            <a:ext cx="800107" cy="57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08D012-4308-48B1-A551-1145D508D1FE}"/>
              </a:ext>
            </a:extLst>
          </p:cNvPr>
          <p:cNvSpPr txBox="1"/>
          <p:nvPr/>
        </p:nvSpPr>
        <p:spPr>
          <a:xfrm>
            <a:off x="6020554" y="2315431"/>
            <a:ext cx="189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Order parameter</a:t>
            </a:r>
          </a:p>
          <a:p>
            <a:pPr algn="ctr"/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(output)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D57E66-DC23-48E1-89B9-231206DFC989}"/>
              </a:ext>
            </a:extLst>
          </p:cNvPr>
          <p:cNvSpPr txBox="1"/>
          <p:nvPr/>
        </p:nvSpPr>
        <p:spPr>
          <a:xfrm>
            <a:off x="215193" y="5081047"/>
            <a:ext cx="1106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order parameter of the system can also be approximated by a determinant in the strong coupling regime.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Summary by substituting steady state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  <a:sym typeface="Wingdings" panose="05000000000000000000" pitchFamily="2" charset="2"/>
              </a:rPr>
              <a:t>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Approximate expression for order parameter in steady state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2A1DF0B-BF69-4713-8745-B5408439F911}"/>
              </a:ext>
            </a:extLst>
          </p:cNvPr>
          <p:cNvCxnSpPr/>
          <p:nvPr/>
        </p:nvCxnSpPr>
        <p:spPr>
          <a:xfrm flipV="1">
            <a:off x="2129906" y="2144909"/>
            <a:ext cx="538090" cy="5994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79748CC-9954-4C44-8269-E9FC0AEB2CBB}"/>
              </a:ext>
            </a:extLst>
          </p:cNvPr>
          <p:cNvSpPr/>
          <p:nvPr/>
        </p:nvSpPr>
        <p:spPr>
          <a:xfrm>
            <a:off x="1053143" y="3929246"/>
            <a:ext cx="1390800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C271B39-882A-4201-8C7F-E5FA2881FF38}"/>
              </a:ext>
            </a:extLst>
          </p:cNvPr>
          <p:cNvSpPr/>
          <p:nvPr/>
        </p:nvSpPr>
        <p:spPr>
          <a:xfrm>
            <a:off x="606791" y="1236397"/>
            <a:ext cx="316037" cy="31429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Shape 179">
            <a:extLst>
              <a:ext uri="{FF2B5EF4-FFF2-40B4-BE49-F238E27FC236}">
                <a16:creationId xmlns:a16="http://schemas.microsoft.com/office/drawing/2014/main" id="{4B893F28-1A34-4255-A500-E3BEB9DC57F5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9A8A4-B488-E038-9D13-4911A1E2EE4C}"/>
              </a:ext>
            </a:extLst>
          </p:cNvPr>
          <p:cNvSpPr txBox="1"/>
          <p:nvPr/>
        </p:nvSpPr>
        <p:spPr>
          <a:xfrm>
            <a:off x="10262821" y="3072423"/>
            <a:ext cx="159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/>
              <a:t>Frequency vector (input)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2AADD-EC72-195E-7BE7-EEA67D855F77}"/>
              </a:ext>
            </a:extLst>
          </p:cNvPr>
          <p:cNvSpPr txBox="1"/>
          <p:nvPr/>
        </p:nvSpPr>
        <p:spPr>
          <a:xfrm>
            <a:off x="10491873" y="2629065"/>
            <a:ext cx="1723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/>
              <a:t>Network structure (input)</a:t>
            </a:r>
          </a:p>
        </p:txBody>
      </p:sp>
    </p:spTree>
    <p:extLst>
      <p:ext uri="{BB962C8B-B14F-4D97-AF65-F5344CB8AC3E}">
        <p14:creationId xmlns:p14="http://schemas.microsoft.com/office/powerpoint/2010/main" val="1418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"/>
            <a:ext cx="12192002" cy="711712"/>
            <a:chOff x="0" y="34131"/>
            <a:chExt cx="13049258" cy="677581"/>
          </a:xfrm>
        </p:grpSpPr>
        <p:sp>
          <p:nvSpPr>
            <p:cNvPr id="19" name="Shape 178">
              <a:extLst>
                <a:ext uri="{FF2B5EF4-FFF2-40B4-BE49-F238E27FC236}">
                  <a16:creationId xmlns:a16="http://schemas.microsoft.com/office/drawing/2014/main" id="{BFEF3A8A-9473-4C5D-A56F-F6353BF8B478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91107" y="133634"/>
            <a:ext cx="555741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Synchrony Alignment Function (SAF)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2307236-8F4F-441E-B50C-64304B401C53}"/>
              </a:ext>
            </a:extLst>
          </p:cNvPr>
          <p:cNvSpPr/>
          <p:nvPr/>
        </p:nvSpPr>
        <p:spPr>
          <a:xfrm>
            <a:off x="8126142" y="3831204"/>
            <a:ext cx="2571335" cy="81215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/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/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blipFill>
                <a:blip r:embed="rId7"/>
                <a:stretch>
                  <a:fillRect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/>
              <p:nvPr/>
            </p:nvSpPr>
            <p:spPr>
              <a:xfrm>
                <a:off x="8054026" y="3972090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026" y="3972090"/>
                <a:ext cx="2684372" cy="4726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E42F66-42C4-40ED-BAAC-61A7CC9D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B8F6B-1A3A-4307-9BD9-6B10677B17CB}"/>
              </a:ext>
            </a:extLst>
          </p:cNvPr>
          <p:cNvSpPr txBox="1"/>
          <p:nvPr/>
        </p:nvSpPr>
        <p:spPr>
          <a:xfrm>
            <a:off x="215193" y="5081047"/>
            <a:ext cx="11816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order parameter of the system can also be approximated by a determinant in the strong coupling regime.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Summary by substituting steady state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  <a:sym typeface="Wingdings" panose="05000000000000000000" pitchFamily="2" charset="2"/>
              </a:rPr>
              <a:t>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Approximate expression for order parameter in steady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Link to maximizing the order parameter of the system = Problem of finding the minimum point of the SAF object function</a:t>
            </a:r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03C5CE00-AB94-45C9-A03F-95F1BE3378A7}"/>
              </a:ext>
            </a:extLst>
          </p:cNvPr>
          <p:cNvSpPr/>
          <p:nvPr/>
        </p:nvSpPr>
        <p:spPr>
          <a:xfrm rot="10800000"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4DE5FA-EFBF-4C10-AA7C-617B6E8EC993}"/>
                  </a:ext>
                </a:extLst>
              </p:cNvPr>
              <p:cNvSpPr txBox="1"/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4DE5FA-EFBF-4C10-AA7C-617B6E8EC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A94AFB-DDAD-4769-B722-D1B319D4FADC}"/>
              </a:ext>
            </a:extLst>
          </p:cNvPr>
          <p:cNvCxnSpPr/>
          <p:nvPr/>
        </p:nvCxnSpPr>
        <p:spPr>
          <a:xfrm flipV="1">
            <a:off x="2129906" y="2144909"/>
            <a:ext cx="538090" cy="5994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hape 179">
            <a:extLst>
              <a:ext uri="{FF2B5EF4-FFF2-40B4-BE49-F238E27FC236}">
                <a16:creationId xmlns:a16="http://schemas.microsoft.com/office/drawing/2014/main" id="{B0CA5694-98BC-4D5E-9B3B-B2266F8B27D4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0814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78">
            <a:extLst>
              <a:ext uri="{FF2B5EF4-FFF2-40B4-BE49-F238E27FC236}">
                <a16:creationId xmlns:a16="http://schemas.microsoft.com/office/drawing/2014/main" id="{5B2E1310-CEAC-43E3-9486-5AF9DEBC78EE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081047"/>
            <a:ext cx="1106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ALF function</a:t>
            </a:r>
            <a:r>
              <a:rPr lang="en-AT" baseline="30000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2)</a:t>
            </a:r>
            <a:r>
              <a:rPr lang="en-US" baseline="30000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 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: Similar to SAF, but uses local order parameter (total interaction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Similar to SAF, but an object function whose order of Laplace matrix is 1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7957" y="133634"/>
            <a:ext cx="5026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Adjusted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Lyapnov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Function (ALF)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/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+…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7A53AC-5534-43BF-80D2-607B4415C241}"/>
              </a:ext>
            </a:extLst>
          </p:cNvPr>
          <p:cNvSpPr/>
          <p:nvPr/>
        </p:nvSpPr>
        <p:spPr>
          <a:xfrm>
            <a:off x="467735" y="1169647"/>
            <a:ext cx="455093" cy="38104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24660E-D5B7-4CD4-9B3A-99B11EB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11CE2B-8F4B-4FB5-9FFF-0AD8DAEE061A}"/>
              </a:ext>
            </a:extLst>
          </p:cNvPr>
          <p:cNvSpPr/>
          <p:nvPr/>
        </p:nvSpPr>
        <p:spPr>
          <a:xfrm>
            <a:off x="1134668" y="4088373"/>
            <a:ext cx="1521247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hape 179">
            <a:extLst>
              <a:ext uri="{FF2B5EF4-FFF2-40B4-BE49-F238E27FC236}">
                <a16:creationId xmlns:a16="http://schemas.microsoft.com/office/drawing/2014/main" id="{BBF6554D-35BA-4FFE-88A0-D098317AD549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E65FC9-3B7C-46F5-B391-BD07171AEE39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Skardal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et al. (2014), Phys. Rev. Lett., 113(14), 144101.</a:t>
            </a:r>
          </a:p>
        </p:txBody>
      </p:sp>
    </p:spTree>
    <p:extLst>
      <p:ext uri="{BB962C8B-B14F-4D97-AF65-F5344CB8AC3E}">
        <p14:creationId xmlns:p14="http://schemas.microsoft.com/office/powerpoint/2010/main" val="203330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78">
            <a:extLst>
              <a:ext uri="{FF2B5EF4-FFF2-40B4-BE49-F238E27FC236}">
                <a16:creationId xmlns:a16="http://schemas.microsoft.com/office/drawing/2014/main" id="{5B2E1310-CEAC-43E3-9486-5AF9DEBC78EE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7957" y="133634"/>
            <a:ext cx="5026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Adjusted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Lyapnov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Function (ALF)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/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/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+…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>
            <a:extLst>
              <a:ext uri="{FF2B5EF4-FFF2-40B4-BE49-F238E27FC236}">
                <a16:creationId xmlns:a16="http://schemas.microsoft.com/office/drawing/2014/main" id="{E13FE6C3-39B6-4792-8DB1-568DEFE60B77}"/>
              </a:ext>
            </a:extLst>
          </p:cNvPr>
          <p:cNvSpPr/>
          <p:nvPr/>
        </p:nvSpPr>
        <p:spPr>
          <a:xfrm>
            <a:off x="8120270" y="1045902"/>
            <a:ext cx="2571335" cy="81215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7A53AC-5534-43BF-80D2-607B4415C241}"/>
              </a:ext>
            </a:extLst>
          </p:cNvPr>
          <p:cNvSpPr/>
          <p:nvPr/>
        </p:nvSpPr>
        <p:spPr>
          <a:xfrm>
            <a:off x="467735" y="1169647"/>
            <a:ext cx="455093" cy="38104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24660E-D5B7-4CD4-9B3A-99B11EB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11</a:t>
            </a:fld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99540C5C-221F-4B3D-9D38-7EC5C63B3BA8}"/>
              </a:ext>
            </a:extLst>
          </p:cNvPr>
          <p:cNvCxnSpPr>
            <a:cxnSpLocks/>
          </p:cNvCxnSpPr>
          <p:nvPr/>
        </p:nvCxnSpPr>
        <p:spPr>
          <a:xfrm flipV="1">
            <a:off x="2655916" y="1396350"/>
            <a:ext cx="5398110" cy="3117461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11CE2B-8F4B-4FB5-9FFF-0AD8DAEE061A}"/>
              </a:ext>
            </a:extLst>
          </p:cNvPr>
          <p:cNvSpPr/>
          <p:nvPr/>
        </p:nvSpPr>
        <p:spPr>
          <a:xfrm>
            <a:off x="1134668" y="4088373"/>
            <a:ext cx="1521247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hape 179">
            <a:extLst>
              <a:ext uri="{FF2B5EF4-FFF2-40B4-BE49-F238E27FC236}">
                <a16:creationId xmlns:a16="http://schemas.microsoft.com/office/drawing/2014/main" id="{BBF6554D-35BA-4FFE-88A0-D098317AD549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83501C-FCAF-47A1-880D-FD48226992E7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Skardal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et al. (2014), Phys. Rev. Lett., 113(14), 144101.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972E86-7D09-93A1-5B4C-72DDDA78664F}"/>
                  </a:ext>
                </a:extLst>
              </p:cNvPr>
              <p:cNvSpPr txBox="1"/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972E86-7D09-93A1-5B4C-72DDDA786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화살표: 아래쪽 60">
            <a:extLst>
              <a:ext uri="{FF2B5EF4-FFF2-40B4-BE49-F238E27FC236}">
                <a16:creationId xmlns:a16="http://schemas.microsoft.com/office/drawing/2014/main" id="{CE8DD84A-F9F7-ACD9-B957-5B16674F5862}"/>
              </a:ext>
            </a:extLst>
          </p:cNvPr>
          <p:cNvSpPr/>
          <p:nvPr/>
        </p:nvSpPr>
        <p:spPr>
          <a:xfrm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1082">
            <a:extLst>
              <a:ext uri="{FF2B5EF4-FFF2-40B4-BE49-F238E27FC236}">
                <a16:creationId xmlns:a16="http://schemas.microsoft.com/office/drawing/2014/main" id="{DCAEE812-9524-3CAA-C31B-396BBC945829}"/>
              </a:ext>
            </a:extLst>
          </p:cNvPr>
          <p:cNvSpPr/>
          <p:nvPr/>
        </p:nvSpPr>
        <p:spPr>
          <a:xfrm rot="5400000" flipH="1">
            <a:off x="9403915" y="2336572"/>
            <a:ext cx="1626364" cy="317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" name="Shape 1082">
            <a:extLst>
              <a:ext uri="{FF2B5EF4-FFF2-40B4-BE49-F238E27FC236}">
                <a16:creationId xmlns:a16="http://schemas.microsoft.com/office/drawing/2014/main" id="{2FBF4A2F-41C4-9852-DB8C-41226699B36A}"/>
              </a:ext>
            </a:extLst>
          </p:cNvPr>
          <p:cNvSpPr/>
          <p:nvPr/>
        </p:nvSpPr>
        <p:spPr>
          <a:xfrm rot="5400000" flipH="1">
            <a:off x="9808642" y="2136266"/>
            <a:ext cx="1164812" cy="2564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7" name="Shape 1082">
            <a:extLst>
              <a:ext uri="{FF2B5EF4-FFF2-40B4-BE49-F238E27FC236}">
                <a16:creationId xmlns:a16="http://schemas.microsoft.com/office/drawing/2014/main" id="{1B5C12B0-D094-5AE8-E189-206320BE1740}"/>
              </a:ext>
            </a:extLst>
          </p:cNvPr>
          <p:cNvSpPr/>
          <p:nvPr/>
        </p:nvSpPr>
        <p:spPr>
          <a:xfrm rot="5400000" flipH="1" flipV="1">
            <a:off x="7702806" y="1796409"/>
            <a:ext cx="800107" cy="57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BC179-1DF8-63E5-1F93-64859BECDB03}"/>
              </a:ext>
            </a:extLst>
          </p:cNvPr>
          <p:cNvSpPr txBox="1"/>
          <p:nvPr/>
        </p:nvSpPr>
        <p:spPr>
          <a:xfrm>
            <a:off x="5513456" y="2315431"/>
            <a:ext cx="2398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Local Order parameter</a:t>
            </a:r>
          </a:p>
          <a:p>
            <a:pPr algn="ctr"/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(output)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31210-B649-3F9A-73C6-0842D3CD1679}"/>
              </a:ext>
            </a:extLst>
          </p:cNvPr>
          <p:cNvSpPr txBox="1"/>
          <p:nvPr/>
        </p:nvSpPr>
        <p:spPr>
          <a:xfrm>
            <a:off x="10262821" y="3072423"/>
            <a:ext cx="159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/>
              <a:t>Frequency vector (input)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828C2-88C6-1FF3-A6B4-2CEB2B076876}"/>
              </a:ext>
            </a:extLst>
          </p:cNvPr>
          <p:cNvSpPr txBox="1"/>
          <p:nvPr/>
        </p:nvSpPr>
        <p:spPr>
          <a:xfrm>
            <a:off x="10491873" y="2629065"/>
            <a:ext cx="1723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/>
              <a:t>Network structure (input)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80E57F-4602-B509-423B-260AA8B85550}"/>
              </a:ext>
            </a:extLst>
          </p:cNvPr>
          <p:cNvSpPr txBox="1"/>
          <p:nvPr/>
        </p:nvSpPr>
        <p:spPr>
          <a:xfrm>
            <a:off x="215193" y="5081047"/>
            <a:ext cx="1106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ALF function</a:t>
            </a:r>
            <a:r>
              <a:rPr lang="en-US" baseline="30000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2)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: Similar to SAF, but uses local order parameter (total interaction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Similar to SAF, but an object function whose order of Laplace matrix is 1</a:t>
            </a:r>
          </a:p>
        </p:txBody>
      </p:sp>
    </p:spTree>
    <p:extLst>
      <p:ext uri="{BB962C8B-B14F-4D97-AF65-F5344CB8AC3E}">
        <p14:creationId xmlns:p14="http://schemas.microsoft.com/office/powerpoint/2010/main" val="3756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78">
            <a:extLst>
              <a:ext uri="{FF2B5EF4-FFF2-40B4-BE49-F238E27FC236}">
                <a16:creationId xmlns:a16="http://schemas.microsoft.com/office/drawing/2014/main" id="{3D4DAE5A-09DA-4E3F-9C4E-544EC9A47C1C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081047"/>
            <a:ext cx="1106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ALF function</a:t>
            </a:r>
            <a:r>
              <a:rPr lang="en-US" baseline="30000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2)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: Similar to SAF, but uses local order parameter (total interaction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Similar to SAF, but an object function whose order of Laplace matrix is 1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7957" y="133634"/>
            <a:ext cx="5026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Adjusted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Lyapnov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Function (ALF)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/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/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blipFill>
                <a:blip r:embed="rId7"/>
                <a:stretch>
                  <a:fillRect l="-1646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/>
              <p:nvPr/>
            </p:nvSpPr>
            <p:spPr>
              <a:xfrm>
                <a:off x="7909867" y="3992863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867" y="3992863"/>
                <a:ext cx="2684372" cy="347403"/>
              </a:xfrm>
              <a:prstGeom prst="rect">
                <a:avLst/>
              </a:prstGeom>
              <a:blipFill>
                <a:blip r:embed="rId8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/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+…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>
            <a:extLst>
              <a:ext uri="{FF2B5EF4-FFF2-40B4-BE49-F238E27FC236}">
                <a16:creationId xmlns:a16="http://schemas.microsoft.com/office/drawing/2014/main" id="{E13FE6C3-39B6-4792-8DB1-568DEFE60B77}"/>
              </a:ext>
            </a:extLst>
          </p:cNvPr>
          <p:cNvSpPr/>
          <p:nvPr/>
        </p:nvSpPr>
        <p:spPr>
          <a:xfrm>
            <a:off x="8126142" y="3831204"/>
            <a:ext cx="2571335" cy="81215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24660E-D5B7-4CD4-9B3A-99B11EB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D92D56AD-765F-4C86-97EB-77A737E2A484}"/>
              </a:ext>
            </a:extLst>
          </p:cNvPr>
          <p:cNvSpPr/>
          <p:nvPr/>
        </p:nvSpPr>
        <p:spPr>
          <a:xfrm rot="10800000"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Shape 179">
            <a:extLst>
              <a:ext uri="{FF2B5EF4-FFF2-40B4-BE49-F238E27FC236}">
                <a16:creationId xmlns:a16="http://schemas.microsoft.com/office/drawing/2014/main" id="{EFA450C5-5699-48A9-8ED0-82126C2244FF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76978-3409-498E-AD77-C8348CA8CDF8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Skardal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et al. (2014), Phys. Rev. Lett., 113(14), 144101.</a:t>
            </a:r>
          </a:p>
        </p:txBody>
      </p:sp>
    </p:spTree>
    <p:extLst>
      <p:ext uri="{BB962C8B-B14F-4D97-AF65-F5344CB8AC3E}">
        <p14:creationId xmlns:p14="http://schemas.microsoft.com/office/powerpoint/2010/main" val="60278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78">
            <a:extLst>
              <a:ext uri="{FF2B5EF4-FFF2-40B4-BE49-F238E27FC236}">
                <a16:creationId xmlns:a16="http://schemas.microsoft.com/office/drawing/2014/main" id="{C70C2954-BF9C-4E98-938D-1F5D8CE6625F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2" y="5260456"/>
            <a:ext cx="8741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As links are added to the network, the Laplace matrix changes. (dL)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problem of finding a dL matrix that optimizes two types of object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matrix sum is organized using the formula for Moore-Penrose inverse.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/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blipFill>
                <a:blip r:embed="rId3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A80803-0668-4459-BC97-117F7F7C45B4}"/>
                  </a:ext>
                </a:extLst>
              </p:cNvPr>
              <p:cNvSpPr txBox="1"/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A80803-0668-4459-BC97-117F7F7C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479148-9880-4915-B7EB-8E41815D6B4B}"/>
                  </a:ext>
                </a:extLst>
              </p:cNvPr>
              <p:cNvSpPr txBox="1"/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479148-9880-4915-B7EB-8E41815D6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56904DED-BCAF-4F4B-BF32-8A19575AC05E}"/>
              </a:ext>
            </a:extLst>
          </p:cNvPr>
          <p:cNvSpPr txBox="1"/>
          <p:nvPr/>
        </p:nvSpPr>
        <p:spPr>
          <a:xfrm>
            <a:off x="302920" y="1850380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382FD7-01DF-4F09-B9B5-5FE61C76C41E}"/>
              </a:ext>
            </a:extLst>
          </p:cNvPr>
          <p:cNvSpPr txBox="1"/>
          <p:nvPr/>
        </p:nvSpPr>
        <p:spPr>
          <a:xfrm>
            <a:off x="314059" y="3694516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7FE85B9-EE00-49E1-A652-EA13AD916BAA}"/>
              </a:ext>
            </a:extLst>
          </p:cNvPr>
          <p:cNvCxnSpPr>
            <a:cxnSpLocks/>
          </p:cNvCxnSpPr>
          <p:nvPr/>
        </p:nvCxnSpPr>
        <p:spPr>
          <a:xfrm>
            <a:off x="3551766" y="1110118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4D8CD8-394B-4EA4-A9EF-17F909B80B19}"/>
                  </a:ext>
                </a:extLst>
              </p:cNvPr>
              <p:cNvSpPr txBox="1"/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4D8CD8-394B-4EA4-A9EF-17F909B8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blipFill>
                <a:blip r:embed="rId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B59513-71FC-4629-B67A-D4D5D1A07E67}"/>
                  </a:ext>
                </a:extLst>
              </p:cNvPr>
              <p:cNvSpPr txBox="1"/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B59513-71FC-4629-B67A-D4D5D1A07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blipFill>
                <a:blip r:embed="rId7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12A0E0-84B6-456C-AB0E-B1C08E64ED25}"/>
                  </a:ext>
                </a:extLst>
              </p:cNvPr>
              <p:cNvSpPr txBox="1"/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12A0E0-84B6-456C-AB0E-B1C08E64E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A812B96-9A9A-4AE6-BB86-01AF2B530F20}"/>
              </a:ext>
            </a:extLst>
          </p:cNvPr>
          <p:cNvCxnSpPr>
            <a:cxnSpLocks/>
          </p:cNvCxnSpPr>
          <p:nvPr/>
        </p:nvCxnSpPr>
        <p:spPr>
          <a:xfrm>
            <a:off x="7171266" y="1110117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117FB9C-784F-46E9-9965-5DA9159B1191}"/>
              </a:ext>
            </a:extLst>
          </p:cNvPr>
          <p:cNvSpPr/>
          <p:nvPr/>
        </p:nvSpPr>
        <p:spPr>
          <a:xfrm>
            <a:off x="361488" y="2860563"/>
            <a:ext cx="11234763" cy="17732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/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/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66346BD-9592-44A5-8851-45307D44BFA8}"/>
              </a:ext>
            </a:extLst>
          </p:cNvPr>
          <p:cNvCxnSpPr>
            <a:cxnSpLocks/>
          </p:cNvCxnSpPr>
          <p:nvPr/>
        </p:nvCxnSpPr>
        <p:spPr>
          <a:xfrm>
            <a:off x="1044289" y="1139187"/>
            <a:ext cx="0" cy="3520419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/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11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blipFill>
                <a:blip r:embed="rId11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585FE-C696-499A-B379-043DE75F54C9}"/>
                  </a:ext>
                </a:extLst>
              </p:cNvPr>
              <p:cNvSpPr txBox="1"/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585FE-C696-499A-B379-043DE75F5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blipFill>
                <a:blip r:embed="rId1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D4CE63-9F95-42E7-836E-ACD02CC2A5DA}"/>
                  </a:ext>
                </a:extLst>
              </p:cNvPr>
              <p:cNvSpPr txBox="1"/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D4CE63-9F95-42E7-836E-ACD02CC2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blipFill>
                <a:blip r:embed="rId13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91A4F48A-04DC-445B-8970-A2593D29455B}"/>
                  </a:ext>
                </a:extLst>
              </p:cNvPr>
              <p:cNvSpPr/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91A4F48A-04DC-445B-8970-A2593D294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7E7D71-4941-4FE9-8F9C-2141F16B08A3}"/>
                  </a:ext>
                </a:extLst>
              </p:cNvPr>
              <p:cNvSpPr txBox="1"/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ko-KR" sz="12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7E7D71-4941-4FE9-8F9C-2141F16B0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blipFill>
                <a:blip r:embed="rId15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6A5C6AA-D866-464C-B406-0E60F380E6BA}"/>
                  </a:ext>
                </a:extLst>
              </p:cNvPr>
              <p:cNvSpPr/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𝑑𝐿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6A5C6AA-D866-464C-B406-0E60F380E6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6004F5-729C-4E95-B421-BE2C77CA032C}"/>
              </a:ext>
            </a:extLst>
          </p:cNvPr>
          <p:cNvSpPr/>
          <p:nvPr/>
        </p:nvSpPr>
        <p:spPr>
          <a:xfrm>
            <a:off x="8827614" y="4697342"/>
            <a:ext cx="3213657" cy="1383066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슬라이드 번호 개체 틀 1">
            <a:extLst>
              <a:ext uri="{FF2B5EF4-FFF2-40B4-BE49-F238E27FC236}">
                <a16:creationId xmlns:a16="http://schemas.microsoft.com/office/drawing/2014/main" id="{F32BE1BF-137A-41E4-A5E5-9C014182CCA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BBB642-71B5-4A5A-9DC4-BFE4ED81B08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47" name="Shape 179">
            <a:extLst>
              <a:ext uri="{FF2B5EF4-FFF2-40B4-BE49-F238E27FC236}">
                <a16:creationId xmlns:a16="http://schemas.microsoft.com/office/drawing/2014/main" id="{F7E6E663-1826-4192-87A8-B7EEDF45DD2B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5741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78">
            <a:extLst>
              <a:ext uri="{FF2B5EF4-FFF2-40B4-BE49-F238E27FC236}">
                <a16:creationId xmlns:a16="http://schemas.microsoft.com/office/drawing/2014/main" id="{490B76C3-5CCE-43C4-8483-B5B571B69F0D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83008A0-E3C3-46D7-B57E-A5AA19401277}"/>
              </a:ext>
            </a:extLst>
          </p:cNvPr>
          <p:cNvSpPr/>
          <p:nvPr/>
        </p:nvSpPr>
        <p:spPr>
          <a:xfrm>
            <a:off x="9106593" y="3444105"/>
            <a:ext cx="1160858" cy="41760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0456"/>
            <a:ext cx="7708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ALF's object function can be interpreted in a more intuitive sense.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Numerator: Connect nodes where the phase difference between steady states is as large as possible.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/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/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/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11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blipFill>
                <a:blip r:embed="rId10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E08A80C-0BB2-407B-9470-DD0A3F047571}"/>
              </a:ext>
            </a:extLst>
          </p:cNvPr>
          <p:cNvSpPr txBox="1"/>
          <p:nvPr/>
        </p:nvSpPr>
        <p:spPr>
          <a:xfrm>
            <a:off x="8438585" y="3106110"/>
            <a:ext cx="3078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distant nodes in phase space</a:t>
            </a:r>
            <a:endParaRPr lang="en-US" altLang="ko-KR" sz="1200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1" name="슬라이드 번호 개체 틀 1">
            <a:extLst>
              <a:ext uri="{FF2B5EF4-FFF2-40B4-BE49-F238E27FC236}">
                <a16:creationId xmlns:a16="http://schemas.microsoft.com/office/drawing/2014/main" id="{66195204-5863-46C3-95F2-2480D679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BBB642-71B5-4A5A-9DC4-BFE4ED81B088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C086029-E45E-4160-8362-9B68ABC895F5}"/>
                  </a:ext>
                </a:extLst>
              </p:cNvPr>
              <p:cNvSpPr txBox="1"/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C086029-E45E-4160-8362-9B68ABC89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631B128-F9E9-49B1-9C37-CB280CF9D0D8}"/>
                  </a:ext>
                </a:extLst>
              </p:cNvPr>
              <p:cNvSpPr txBox="1"/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631B128-F9E9-49B1-9C37-CB280CF9D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blipFill>
                <a:blip r:embed="rId1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5D8875-6679-4456-A311-6EFDAB42E9D3}"/>
                  </a:ext>
                </a:extLst>
              </p:cNvPr>
              <p:cNvSpPr txBox="1"/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5D8875-6679-4456-A311-6EFDAB42E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blipFill>
                <a:blip r:embed="rId18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98BFD7-CF9D-40A5-B5E9-5DB1A2896EC9}"/>
                  </a:ext>
                </a:extLst>
              </p:cNvPr>
              <p:cNvSpPr txBox="1"/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98BFD7-CF9D-40A5-B5E9-5DB1A2896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blipFill>
                <a:blip r:embed="rId1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72F6D8-6853-49B6-9E03-290A4C6D4392}"/>
                  </a:ext>
                </a:extLst>
              </p:cNvPr>
              <p:cNvSpPr txBox="1"/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72F6D8-6853-49B6-9E03-290A4C6D4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blipFill>
                <a:blip r:embed="rId20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41711EC-418C-41C3-8192-EA78B87726D0}"/>
                  </a:ext>
                </a:extLst>
              </p:cNvPr>
              <p:cNvSpPr txBox="1"/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41711EC-418C-41C3-8192-EA78B877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blipFill>
                <a:blip r:embed="rId21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1F1D8CA-5AE0-4828-9BD5-17022F5FB93B}"/>
                  </a:ext>
                </a:extLst>
              </p:cNvPr>
              <p:cNvSpPr/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1F1D8CA-5AE0-4828-9BD5-17022F5FB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2127C-5497-4A10-92CC-6362E471CE66}"/>
                  </a:ext>
                </a:extLst>
              </p:cNvPr>
              <p:cNvSpPr txBox="1"/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ko-KR" sz="12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2127C-5497-4A10-92CC-6362E471C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blipFill>
                <a:blip r:embed="rId23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21A578E7-179E-4AF4-BB98-0B43A08B71C9}"/>
                  </a:ext>
                </a:extLst>
              </p:cNvPr>
              <p:cNvSpPr/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𝑑𝐿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21A578E7-179E-4AF4-BB98-0B43A08B7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C331021-035D-43D6-A7CC-B488FF607970}"/>
              </a:ext>
            </a:extLst>
          </p:cNvPr>
          <p:cNvSpPr/>
          <p:nvPr/>
        </p:nvSpPr>
        <p:spPr>
          <a:xfrm>
            <a:off x="8827614" y="4697342"/>
            <a:ext cx="3213657" cy="1383066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Shape 179">
            <a:extLst>
              <a:ext uri="{FF2B5EF4-FFF2-40B4-BE49-F238E27FC236}">
                <a16:creationId xmlns:a16="http://schemas.microsoft.com/office/drawing/2014/main" id="{6ACE93FB-42F7-4950-A596-D1D5DBDD9BFA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4F14652-7092-4DA0-AA8E-BDC856FABB0C}"/>
              </a:ext>
            </a:extLst>
          </p:cNvPr>
          <p:cNvCxnSpPr>
            <a:cxnSpLocks/>
          </p:cNvCxnSpPr>
          <p:nvPr/>
        </p:nvCxnSpPr>
        <p:spPr>
          <a:xfrm>
            <a:off x="3551766" y="1110118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6E85A7D-B5DB-4B19-8372-97AA3E344C93}"/>
              </a:ext>
            </a:extLst>
          </p:cNvPr>
          <p:cNvCxnSpPr>
            <a:cxnSpLocks/>
          </p:cNvCxnSpPr>
          <p:nvPr/>
        </p:nvCxnSpPr>
        <p:spPr>
          <a:xfrm>
            <a:off x="7171266" y="1110117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252B6F2F-0775-4B79-8CCE-4A3FDEC2C48D}"/>
              </a:ext>
            </a:extLst>
          </p:cNvPr>
          <p:cNvSpPr/>
          <p:nvPr/>
        </p:nvSpPr>
        <p:spPr>
          <a:xfrm>
            <a:off x="361488" y="2860563"/>
            <a:ext cx="11234763" cy="17732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586485A-ED72-4FCC-8BCC-897DFBACB1B3}"/>
              </a:ext>
            </a:extLst>
          </p:cNvPr>
          <p:cNvCxnSpPr>
            <a:cxnSpLocks/>
          </p:cNvCxnSpPr>
          <p:nvPr/>
        </p:nvCxnSpPr>
        <p:spPr>
          <a:xfrm>
            <a:off x="1044289" y="1139187"/>
            <a:ext cx="0" cy="3520419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2B537EB-D5B0-4C8F-8DE4-86ED6D456F57}"/>
              </a:ext>
            </a:extLst>
          </p:cNvPr>
          <p:cNvSpPr txBox="1"/>
          <p:nvPr/>
        </p:nvSpPr>
        <p:spPr>
          <a:xfrm>
            <a:off x="302920" y="1850380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A6C53A-9377-4FA7-81BA-50AB35576F46}"/>
              </a:ext>
            </a:extLst>
          </p:cNvPr>
          <p:cNvSpPr txBox="1"/>
          <p:nvPr/>
        </p:nvSpPr>
        <p:spPr>
          <a:xfrm>
            <a:off x="314059" y="3694516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216731-C4E1-4082-8DD2-D046F1E6B0E2}"/>
                  </a:ext>
                </a:extLst>
              </p:cNvPr>
              <p:cNvSpPr txBox="1"/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216731-C4E1-4082-8DD2-D046F1E6B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blipFill>
                <a:blip r:embed="rId25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705192-B8BC-46AA-8534-62EC810464CC}"/>
                  </a:ext>
                </a:extLst>
              </p:cNvPr>
              <p:cNvSpPr txBox="1"/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705192-B8BC-46AA-8534-62EC81046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7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78">
            <a:extLst>
              <a:ext uri="{FF2B5EF4-FFF2-40B4-BE49-F238E27FC236}">
                <a16:creationId xmlns:a16="http://schemas.microsoft.com/office/drawing/2014/main" id="{8AE24ACA-9B34-49A9-A9BB-E90EFF1DB531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83008A0-E3C3-46D7-B57E-A5AA19401277}"/>
              </a:ext>
            </a:extLst>
          </p:cNvPr>
          <p:cNvSpPr/>
          <p:nvPr/>
        </p:nvSpPr>
        <p:spPr>
          <a:xfrm>
            <a:off x="9102436" y="3919970"/>
            <a:ext cx="1165028" cy="26070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0456"/>
            <a:ext cx="77087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ALF's object function can be interpreted in a more intuitive sense.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Numerator: Connect nodes where the phase difference between steady states is as large as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Denominator: Connect nodes that are as close together as possible in the network structure.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/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/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/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11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blipFill>
                <a:blip r:embed="rId10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E08A80C-0BB2-407B-9470-DD0A3F047571}"/>
              </a:ext>
            </a:extLst>
          </p:cNvPr>
          <p:cNvSpPr txBox="1"/>
          <p:nvPr/>
        </p:nvSpPr>
        <p:spPr>
          <a:xfrm>
            <a:off x="8391756" y="4202902"/>
            <a:ext cx="3078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close nodes in network structure</a:t>
            </a:r>
          </a:p>
        </p:txBody>
      </p:sp>
      <p:sp>
        <p:nvSpPr>
          <p:cNvPr id="57" name="슬라이드 번호 개체 틀 1">
            <a:extLst>
              <a:ext uri="{FF2B5EF4-FFF2-40B4-BE49-F238E27FC236}">
                <a16:creationId xmlns:a16="http://schemas.microsoft.com/office/drawing/2014/main" id="{F339AF4C-732B-4B36-9F27-8E43392C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BBB642-71B5-4A5A-9DC4-BFE4ED81B088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B7D354C-5FBF-4099-99D5-FAFBEDB360EF}"/>
                  </a:ext>
                </a:extLst>
              </p:cNvPr>
              <p:cNvSpPr txBox="1"/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B7D354C-5FBF-4099-99D5-FAFBEDB3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CED1302-C92F-4D00-A5E9-72C1584A7BDE}"/>
                  </a:ext>
                </a:extLst>
              </p:cNvPr>
              <p:cNvSpPr txBox="1"/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CED1302-C92F-4D00-A5E9-72C1584A7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blipFill>
                <a:blip r:embed="rId1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72802C-0A31-43F3-ADAA-708EB8238919}"/>
                  </a:ext>
                </a:extLst>
              </p:cNvPr>
              <p:cNvSpPr txBox="1"/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72802C-0A31-43F3-ADAA-708EB8238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blipFill>
                <a:blip r:embed="rId18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C24518-55D0-4C2F-9AFD-2CEE2AE8EFDA}"/>
                  </a:ext>
                </a:extLst>
              </p:cNvPr>
              <p:cNvSpPr txBox="1"/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C24518-55D0-4C2F-9AFD-2CEE2AE8E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blipFill>
                <a:blip r:embed="rId1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FE3D60-CED3-4567-99E1-D258F53678DE}"/>
                  </a:ext>
                </a:extLst>
              </p:cNvPr>
              <p:cNvSpPr txBox="1"/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FE3D60-CED3-4567-99E1-D258F5367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blipFill>
                <a:blip r:embed="rId20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1D475E-C548-4277-BD36-A15D24080B83}"/>
                  </a:ext>
                </a:extLst>
              </p:cNvPr>
              <p:cNvSpPr txBox="1"/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1D475E-C548-4277-BD36-A15D24080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blipFill>
                <a:blip r:embed="rId21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8D18811-76FF-4583-BB02-E28E6F8100D6}"/>
                  </a:ext>
                </a:extLst>
              </p:cNvPr>
              <p:cNvSpPr/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8D18811-76FF-4583-BB02-E28E6F810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724C67E-6C14-495C-8F93-66FAA55B67EE}"/>
                  </a:ext>
                </a:extLst>
              </p:cNvPr>
              <p:cNvSpPr txBox="1"/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ko-KR" sz="12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724C67E-6C14-495C-8F93-66FAA55B6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blipFill>
                <a:blip r:embed="rId23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FFD9C5F-94D2-490A-AD27-5E1B8DA82936}"/>
                  </a:ext>
                </a:extLst>
              </p:cNvPr>
              <p:cNvSpPr/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𝑑𝐿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FFD9C5F-94D2-490A-AD27-5E1B8DA82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753F34D-75AA-4982-B261-B3FC5BDBBCFE}"/>
              </a:ext>
            </a:extLst>
          </p:cNvPr>
          <p:cNvSpPr/>
          <p:nvPr/>
        </p:nvSpPr>
        <p:spPr>
          <a:xfrm>
            <a:off x="8827614" y="4697342"/>
            <a:ext cx="3213657" cy="1383066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Shape 179">
            <a:extLst>
              <a:ext uri="{FF2B5EF4-FFF2-40B4-BE49-F238E27FC236}">
                <a16:creationId xmlns:a16="http://schemas.microsoft.com/office/drawing/2014/main" id="{4DF0273B-BD4F-48D7-888B-C7E589997550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E20F42E-3A9E-425B-BBF6-881DFE4C265C}"/>
              </a:ext>
            </a:extLst>
          </p:cNvPr>
          <p:cNvCxnSpPr>
            <a:cxnSpLocks/>
          </p:cNvCxnSpPr>
          <p:nvPr/>
        </p:nvCxnSpPr>
        <p:spPr>
          <a:xfrm>
            <a:off x="3551766" y="1110118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4F99CCE-FF63-480B-8A07-98C0CF1D8061}"/>
              </a:ext>
            </a:extLst>
          </p:cNvPr>
          <p:cNvCxnSpPr>
            <a:cxnSpLocks/>
          </p:cNvCxnSpPr>
          <p:nvPr/>
        </p:nvCxnSpPr>
        <p:spPr>
          <a:xfrm>
            <a:off x="7171266" y="1110117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601A1F5A-1FD3-4345-B954-7A9E6CA8990A}"/>
              </a:ext>
            </a:extLst>
          </p:cNvPr>
          <p:cNvSpPr/>
          <p:nvPr/>
        </p:nvSpPr>
        <p:spPr>
          <a:xfrm>
            <a:off x="361488" y="2860563"/>
            <a:ext cx="11234763" cy="17732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D3E197F-A7F4-4BDC-A9B7-130667E22F3C}"/>
              </a:ext>
            </a:extLst>
          </p:cNvPr>
          <p:cNvCxnSpPr>
            <a:cxnSpLocks/>
          </p:cNvCxnSpPr>
          <p:nvPr/>
        </p:nvCxnSpPr>
        <p:spPr>
          <a:xfrm>
            <a:off x="1044289" y="1139187"/>
            <a:ext cx="0" cy="3520419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781AD97-F698-455C-AC3F-89AA395137CB}"/>
              </a:ext>
            </a:extLst>
          </p:cNvPr>
          <p:cNvSpPr txBox="1"/>
          <p:nvPr/>
        </p:nvSpPr>
        <p:spPr>
          <a:xfrm>
            <a:off x="302920" y="1850380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270514-19E1-4B60-B01F-91FA62D79E7A}"/>
              </a:ext>
            </a:extLst>
          </p:cNvPr>
          <p:cNvSpPr txBox="1"/>
          <p:nvPr/>
        </p:nvSpPr>
        <p:spPr>
          <a:xfrm>
            <a:off x="314059" y="3694516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CE0E142-103B-48AF-A284-E478AF56A316}"/>
                  </a:ext>
                </a:extLst>
              </p:cNvPr>
              <p:cNvSpPr txBox="1"/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CE0E142-103B-48AF-A284-E478AF56A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blipFill>
                <a:blip r:embed="rId25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C9783-A83F-4E6E-8BED-116740C5B085}"/>
                  </a:ext>
                </a:extLst>
              </p:cNvPr>
              <p:cNvSpPr txBox="1"/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C9783-A83F-4E6E-8BED-116740C5B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96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78">
            <a:extLst>
              <a:ext uri="{FF2B5EF4-FFF2-40B4-BE49-F238E27FC236}">
                <a16:creationId xmlns:a16="http://schemas.microsoft.com/office/drawing/2014/main" id="{448BE65E-4BA0-4F35-A0B4-54660DE5FFD6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389404"/>
            <a:ext cx="7708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Separate the two terms to create a separate link addition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Four strategies for adding links based on different aspects of your network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904DED-BCAF-4F4B-BF32-8A19575AC05E}"/>
              </a:ext>
            </a:extLst>
          </p:cNvPr>
          <p:cNvSpPr txBox="1"/>
          <p:nvPr/>
        </p:nvSpPr>
        <p:spPr>
          <a:xfrm>
            <a:off x="446832" y="1806763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382FD7-01DF-4F09-B9B5-5FE61C76C41E}"/>
              </a:ext>
            </a:extLst>
          </p:cNvPr>
          <p:cNvSpPr txBox="1"/>
          <p:nvPr/>
        </p:nvSpPr>
        <p:spPr>
          <a:xfrm>
            <a:off x="446832" y="4195682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6ACBA7-19E3-46F1-8C7F-BCA9ED3BD2C5}"/>
              </a:ext>
            </a:extLst>
          </p:cNvPr>
          <p:cNvSpPr txBox="1"/>
          <p:nvPr/>
        </p:nvSpPr>
        <p:spPr>
          <a:xfrm>
            <a:off x="386637" y="2606957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PDM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BC42FD-CB21-4145-94D8-463BEE615785}"/>
              </a:ext>
            </a:extLst>
          </p:cNvPr>
          <p:cNvSpPr txBox="1"/>
          <p:nvPr/>
        </p:nvSpPr>
        <p:spPr>
          <a:xfrm>
            <a:off x="386637" y="3382989"/>
            <a:ext cx="7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DNC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F570FFB-3D38-4895-BA2F-3D1F25634946}"/>
              </a:ext>
            </a:extLst>
          </p:cNvPr>
          <p:cNvCxnSpPr>
            <a:cxnSpLocks/>
          </p:cNvCxnSpPr>
          <p:nvPr/>
        </p:nvCxnSpPr>
        <p:spPr>
          <a:xfrm>
            <a:off x="386637" y="2385981"/>
            <a:ext cx="1146902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172901-209E-49DD-91CD-FC3078801889}"/>
              </a:ext>
            </a:extLst>
          </p:cNvPr>
          <p:cNvCxnSpPr>
            <a:cxnSpLocks/>
          </p:cNvCxnSpPr>
          <p:nvPr/>
        </p:nvCxnSpPr>
        <p:spPr>
          <a:xfrm>
            <a:off x="386637" y="3179301"/>
            <a:ext cx="1146902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CFF2D91-4CF9-49A9-A910-2CD54B37CBD8}"/>
              </a:ext>
            </a:extLst>
          </p:cNvPr>
          <p:cNvCxnSpPr>
            <a:cxnSpLocks/>
          </p:cNvCxnSpPr>
          <p:nvPr/>
        </p:nvCxnSpPr>
        <p:spPr>
          <a:xfrm>
            <a:off x="386637" y="3972621"/>
            <a:ext cx="1146902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0B54BCBB-DD00-4B48-81DC-F312FE50F245}"/>
                  </a:ext>
                </a:extLst>
              </p:cNvPr>
              <p:cNvSpPr/>
              <p:nvPr/>
            </p:nvSpPr>
            <p:spPr>
              <a:xfrm>
                <a:off x="2036850" y="1528910"/>
                <a:ext cx="3065775" cy="7581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0B54BCBB-DD00-4B48-81DC-F312FE50F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850" y="1528910"/>
                <a:ext cx="3065775" cy="758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2D8866B-4878-4284-87C9-BE8B60A5B8B9}"/>
                  </a:ext>
                </a:extLst>
              </p:cNvPr>
              <p:cNvSpPr/>
              <p:nvPr/>
            </p:nvSpPr>
            <p:spPr>
              <a:xfrm>
                <a:off x="2864287" y="4021520"/>
                <a:ext cx="1332801" cy="739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2D8866B-4878-4284-87C9-BE8B60A5B8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287" y="4021520"/>
                <a:ext cx="1332801" cy="739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0DFDF26B-D932-48B0-B5CB-0523A5062C15}"/>
                  </a:ext>
                </a:extLst>
              </p:cNvPr>
              <p:cNvSpPr/>
              <p:nvPr/>
            </p:nvSpPr>
            <p:spPr>
              <a:xfrm>
                <a:off x="2784203" y="2536270"/>
                <a:ext cx="1445267" cy="5180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0DFDF26B-D932-48B0-B5CB-0523A5062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203" y="2536270"/>
                <a:ext cx="1445267" cy="5180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6E3E649-E3A6-4FC0-A621-F9E6DC0C3906}"/>
                  </a:ext>
                </a:extLst>
              </p:cNvPr>
              <p:cNvSpPr/>
              <p:nvPr/>
            </p:nvSpPr>
            <p:spPr>
              <a:xfrm>
                <a:off x="2926420" y="3321025"/>
                <a:ext cx="1160831" cy="471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6E3E649-E3A6-4FC0-A621-F9E6DC0C39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420" y="3321025"/>
                <a:ext cx="1160831" cy="471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AFD96B83-8161-4FF4-B9B7-6A8F89E1B59A}"/>
              </a:ext>
            </a:extLst>
          </p:cNvPr>
          <p:cNvSpPr txBox="1"/>
          <p:nvPr/>
        </p:nvSpPr>
        <p:spPr>
          <a:xfrm>
            <a:off x="6212064" y="1788245"/>
            <a:ext cx="46897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= Node pair that maximizes the order parameter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022A24-B101-4C13-B28B-8BD6A7C43904}"/>
              </a:ext>
            </a:extLst>
          </p:cNvPr>
          <p:cNvSpPr txBox="1"/>
          <p:nvPr/>
        </p:nvSpPr>
        <p:spPr>
          <a:xfrm>
            <a:off x="6212064" y="2612416"/>
            <a:ext cx="457061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= Node pair with the largest phase difference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29483A-5085-4280-ABA2-D0D30CCDF306}"/>
              </a:ext>
            </a:extLst>
          </p:cNvPr>
          <p:cNvSpPr txBox="1"/>
          <p:nvPr/>
        </p:nvSpPr>
        <p:spPr>
          <a:xfrm>
            <a:off x="6212064" y="3412152"/>
            <a:ext cx="4923698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= Node pair with the greatest structural distance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772775-38DB-4E85-A2E1-8653D3309BE6}"/>
              </a:ext>
            </a:extLst>
          </p:cNvPr>
          <p:cNvSpPr txBox="1"/>
          <p:nvPr/>
        </p:nvSpPr>
        <p:spPr>
          <a:xfrm>
            <a:off x="6212064" y="4100799"/>
            <a:ext cx="5322051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= Node pairs that maximize the local order parameter</a:t>
            </a:r>
          </a:p>
          <a:p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= Pair with large phase difference but close distance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004BE23-A7D7-4A1F-9412-A9BF329D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6" name="Shape 179">
            <a:extLst>
              <a:ext uri="{FF2B5EF4-FFF2-40B4-BE49-F238E27FC236}">
                <a16:creationId xmlns:a16="http://schemas.microsoft.com/office/drawing/2014/main" id="{EDCFD9E0-1C75-4818-86D8-02A3037B4107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8636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78">
            <a:extLst>
              <a:ext uri="{FF2B5EF4-FFF2-40B4-BE49-F238E27FC236}">
                <a16:creationId xmlns:a16="http://schemas.microsoft.com/office/drawing/2014/main" id="{E10F56D0-40F4-4D9E-85DB-8261F9DC14AC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1478233" y="136667"/>
              <a:ext cx="1153660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400" dirty="0"/>
                <a:t>Result</a:t>
              </a:r>
              <a:endParaRPr sz="2400" dirty="0"/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215192" y="5395763"/>
            <a:ext cx="10508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Analysis of connection trends of each method in model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DNC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connects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 the farthest location</a:t>
            </a:r>
            <a:endParaRPr lang="en-US" dirty="0">
              <a:latin typeface="SeoulNamsanC M" panose="02020503020101020101" pitchFamily="18" charset="-127"/>
              <a:ea typeface="SeoulNamsanC M" panose="020205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PDM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connects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 the location with the largest phase difference</a:t>
            </a:r>
            <a:endParaRPr lang="en-US" dirty="0">
              <a:latin typeface="SeoulNamsanC M" panose="02020503020101020101" pitchFamily="18" charset="-127"/>
              <a:ea typeface="SeoulNamsanC M" panose="020205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ALF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connects 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location with the largest phase difference but closer.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SAF, which directly maximizes the order parameter, shows the best performance.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4499A7-4074-4BB5-B83B-9B41C0E90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40"/>
          <a:stretch/>
        </p:blipFill>
        <p:spPr>
          <a:xfrm>
            <a:off x="1168336" y="1338216"/>
            <a:ext cx="4344453" cy="389837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54433-2F30-4520-B46B-F868E9C9DBE1}"/>
              </a:ext>
            </a:extLst>
          </p:cNvPr>
          <p:cNvSpPr/>
          <p:nvPr/>
        </p:nvSpPr>
        <p:spPr>
          <a:xfrm>
            <a:off x="999782" y="1284025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FA0A49-FD18-433A-9DDC-C8E89F93B905}"/>
              </a:ext>
            </a:extLst>
          </p:cNvPr>
          <p:cNvSpPr/>
          <p:nvPr/>
        </p:nvSpPr>
        <p:spPr>
          <a:xfrm>
            <a:off x="7733071" y="3750604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D8CA7F-EA1C-4351-9060-97322F1673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406394" y="1285587"/>
            <a:ext cx="4512026" cy="3956389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2F62358A-7ACF-467F-A3D6-39D515B1DF98}"/>
              </a:ext>
            </a:extLst>
          </p:cNvPr>
          <p:cNvSpPr/>
          <p:nvPr/>
        </p:nvSpPr>
        <p:spPr>
          <a:xfrm>
            <a:off x="6350591" y="1083450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/>
              <p:nvPr/>
            </p:nvSpPr>
            <p:spPr>
              <a:xfrm>
                <a:off x="187262" y="959388"/>
                <a:ext cx="870499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62" y="959388"/>
                <a:ext cx="870499" cy="646331"/>
              </a:xfrm>
              <a:prstGeom prst="rect">
                <a:avLst/>
              </a:prstGeom>
              <a:blipFill>
                <a:blip r:embed="rId4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060A3B-7923-4718-8130-907C703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5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78">
            <a:extLst>
              <a:ext uri="{FF2B5EF4-FFF2-40B4-BE49-F238E27FC236}">
                <a16:creationId xmlns:a16="http://schemas.microsoft.com/office/drawing/2014/main" id="{9E448D02-FE22-4D8A-B82A-F383DCE97F22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2" y="5395763"/>
            <a:ext cx="10508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Performance comparison of four methods under various K and network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RM: random connection, ORI: original network, MAX: performance of optimal link obtained by brute force.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SAF is the best in all intervals, and is close to the correct answer when K is large.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54433-2F30-4520-B46B-F868E9C9DBE1}"/>
              </a:ext>
            </a:extLst>
          </p:cNvPr>
          <p:cNvSpPr/>
          <p:nvPr/>
        </p:nvSpPr>
        <p:spPr>
          <a:xfrm>
            <a:off x="928146" y="1284025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FA0A49-FD18-433A-9DDC-C8E89F93B905}"/>
              </a:ext>
            </a:extLst>
          </p:cNvPr>
          <p:cNvSpPr/>
          <p:nvPr/>
        </p:nvSpPr>
        <p:spPr>
          <a:xfrm>
            <a:off x="7733071" y="3750604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F62358A-7ACF-467F-A3D6-39D515B1DF98}"/>
              </a:ext>
            </a:extLst>
          </p:cNvPr>
          <p:cNvSpPr/>
          <p:nvPr/>
        </p:nvSpPr>
        <p:spPr>
          <a:xfrm>
            <a:off x="6350591" y="1083450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/>
              <p:nvPr/>
            </p:nvSpPr>
            <p:spPr>
              <a:xfrm>
                <a:off x="4310680" y="844388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=29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680" y="844388"/>
                <a:ext cx="1818519" cy="430887"/>
              </a:xfrm>
              <a:prstGeom prst="rect">
                <a:avLst/>
              </a:prstGeom>
              <a:blipFill>
                <a:blip r:embed="rId3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/>
              <p:nvPr/>
            </p:nvSpPr>
            <p:spPr>
              <a:xfrm>
                <a:off x="7672714" y="853138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714" y="853138"/>
                <a:ext cx="1818519" cy="430887"/>
              </a:xfrm>
              <a:prstGeom prst="rect">
                <a:avLst/>
              </a:prstGeom>
              <a:blipFill>
                <a:blip r:embed="rId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EEE6AC0-F576-40DE-8346-371849D7358C}"/>
              </a:ext>
            </a:extLst>
          </p:cNvPr>
          <p:cNvSpPr txBox="1"/>
          <p:nvPr/>
        </p:nvSpPr>
        <p:spPr>
          <a:xfrm>
            <a:off x="3220113" y="867378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Tree-like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19826-D637-481C-8E83-1FBF21826C08}"/>
              </a:ext>
            </a:extLst>
          </p:cNvPr>
          <p:cNvSpPr txBox="1"/>
          <p:nvPr/>
        </p:nvSpPr>
        <p:spPr>
          <a:xfrm>
            <a:off x="6852125" y="867377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ER network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D445F2-3FA9-451A-B057-BAD148AF95D5}"/>
              </a:ext>
            </a:extLst>
          </p:cNvPr>
          <p:cNvSpPr/>
          <p:nvPr/>
        </p:nvSpPr>
        <p:spPr>
          <a:xfrm>
            <a:off x="5929611" y="1388197"/>
            <a:ext cx="358176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79A00E-5903-478C-86CF-8D92FDB4E3D9}"/>
              </a:ext>
            </a:extLst>
          </p:cNvPr>
          <p:cNvSpPr/>
          <p:nvPr/>
        </p:nvSpPr>
        <p:spPr>
          <a:xfrm>
            <a:off x="2567577" y="1388196"/>
            <a:ext cx="358176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740EC4-8C2D-4ECD-A596-FB4310C7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C5B9C4-5599-41A1-8CD5-71ACFE7FAD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059" y="1350272"/>
            <a:ext cx="8045363" cy="40192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7962F1D-0AAA-4282-A330-F5E48EEA2E37}"/>
              </a:ext>
            </a:extLst>
          </p:cNvPr>
          <p:cNvSpPr/>
          <p:nvPr/>
        </p:nvSpPr>
        <p:spPr>
          <a:xfrm>
            <a:off x="2356658" y="1424782"/>
            <a:ext cx="569095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041747-9EFA-4FBB-B913-D429D23C356D}"/>
              </a:ext>
            </a:extLst>
          </p:cNvPr>
          <p:cNvSpPr/>
          <p:nvPr/>
        </p:nvSpPr>
        <p:spPr>
          <a:xfrm>
            <a:off x="5673041" y="1414422"/>
            <a:ext cx="569095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hape 179">
            <a:extLst>
              <a:ext uri="{FF2B5EF4-FFF2-40B4-BE49-F238E27FC236}">
                <a16:creationId xmlns:a16="http://schemas.microsoft.com/office/drawing/2014/main" id="{DFBE379D-A80D-40F8-8152-10BAC86E14F7}"/>
              </a:ext>
            </a:extLst>
          </p:cNvPr>
          <p:cNvSpPr txBox="1"/>
          <p:nvPr/>
        </p:nvSpPr>
        <p:spPr>
          <a:xfrm>
            <a:off x="10724183" y="136667"/>
            <a:ext cx="107787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Result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5329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78">
            <a:extLst>
              <a:ext uri="{FF2B5EF4-FFF2-40B4-BE49-F238E27FC236}">
                <a16:creationId xmlns:a16="http://schemas.microsoft.com/office/drawing/2014/main" id="{197D891E-2DAA-4709-BF3D-F1F838ED39FF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2" y="5395763"/>
            <a:ext cx="10508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Observing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trends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with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 more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SAF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is 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still 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the best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 in most sections.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When K is low or the number of added links increases, ALF and PDM show better performance.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54433-2F30-4520-B46B-F868E9C9DBE1}"/>
              </a:ext>
            </a:extLst>
          </p:cNvPr>
          <p:cNvSpPr/>
          <p:nvPr/>
        </p:nvSpPr>
        <p:spPr>
          <a:xfrm>
            <a:off x="1404308" y="1291477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FA0A49-FD18-433A-9DDC-C8E89F93B905}"/>
              </a:ext>
            </a:extLst>
          </p:cNvPr>
          <p:cNvSpPr/>
          <p:nvPr/>
        </p:nvSpPr>
        <p:spPr>
          <a:xfrm>
            <a:off x="8209233" y="3758056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/>
              <p:nvPr/>
            </p:nvSpPr>
            <p:spPr>
              <a:xfrm>
                <a:off x="1067952" y="2212277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=29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52" y="2212277"/>
                <a:ext cx="1818519" cy="430887"/>
              </a:xfrm>
              <a:prstGeom prst="rect">
                <a:avLst/>
              </a:prstGeom>
              <a:blipFill>
                <a:blip r:embed="rId3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/>
              <p:nvPr/>
            </p:nvSpPr>
            <p:spPr>
              <a:xfrm>
                <a:off x="1067952" y="3758056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52" y="3758056"/>
                <a:ext cx="1818519" cy="430887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EEE6AC0-F576-40DE-8346-371849D7358C}"/>
              </a:ext>
            </a:extLst>
          </p:cNvPr>
          <p:cNvSpPr txBox="1"/>
          <p:nvPr/>
        </p:nvSpPr>
        <p:spPr>
          <a:xfrm>
            <a:off x="1198499" y="1886499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Tree-like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19826-D637-481C-8E83-1FBF21826C08}"/>
              </a:ext>
            </a:extLst>
          </p:cNvPr>
          <p:cNvSpPr txBox="1"/>
          <p:nvPr/>
        </p:nvSpPr>
        <p:spPr>
          <a:xfrm>
            <a:off x="1450660" y="3393319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ER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B297F-15E6-4ED0-80EF-1C68E704FE24}"/>
                  </a:ext>
                </a:extLst>
              </p:cNvPr>
              <p:cNvSpPr txBox="1"/>
              <p:nvPr/>
            </p:nvSpPr>
            <p:spPr>
              <a:xfrm>
                <a:off x="3387683" y="870022"/>
                <a:ext cx="1818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≈0.3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B297F-15E6-4ED0-80EF-1C68E704F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683" y="870022"/>
                <a:ext cx="1818519" cy="215444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2B51A4-603C-4B0E-89C3-410EA877F2ED}"/>
                  </a:ext>
                </a:extLst>
              </p:cNvPr>
              <p:cNvSpPr txBox="1"/>
              <p:nvPr/>
            </p:nvSpPr>
            <p:spPr>
              <a:xfrm>
                <a:off x="5361787" y="870022"/>
                <a:ext cx="1818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≈0.6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2B51A4-603C-4B0E-89C3-410EA877F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787" y="870022"/>
                <a:ext cx="1818519" cy="215444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F44D68-A66A-4D3E-B427-5B9142EE3733}"/>
                  </a:ext>
                </a:extLst>
              </p:cNvPr>
              <p:cNvSpPr txBox="1"/>
              <p:nvPr/>
            </p:nvSpPr>
            <p:spPr>
              <a:xfrm>
                <a:off x="7276453" y="874380"/>
                <a:ext cx="1818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≈0.9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F44D68-A66A-4D3E-B427-5B9142EE3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3" y="874380"/>
                <a:ext cx="1818519" cy="215444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464F03-53FC-42EF-A6D0-3F6CC808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4" name="Shape 179">
            <a:extLst>
              <a:ext uri="{FF2B5EF4-FFF2-40B4-BE49-F238E27FC236}">
                <a16:creationId xmlns:a16="http://schemas.microsoft.com/office/drawing/2014/main" id="{CC5FFB60-2E63-4087-A4D7-0B7188352BC7}"/>
              </a:ext>
            </a:extLst>
          </p:cNvPr>
          <p:cNvSpPr txBox="1"/>
          <p:nvPr/>
        </p:nvSpPr>
        <p:spPr>
          <a:xfrm>
            <a:off x="10724183" y="136667"/>
            <a:ext cx="107787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Result</a:t>
            </a:r>
            <a:endParaRPr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0F25B8-2176-43D0-9470-6211A415BF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157" y="1192765"/>
            <a:ext cx="6016427" cy="431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7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8">
            <a:extLst>
              <a:ext uri="{FF2B5EF4-FFF2-40B4-BE49-F238E27FC236}">
                <a16:creationId xmlns:a16="http://schemas.microsoft.com/office/drawing/2014/main" id="{06A1BC1E-E9D2-4DD3-BE88-148666CFDAC0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14" name="Shape 180">
            <a:extLst>
              <a:ext uri="{FF2B5EF4-FFF2-40B4-BE49-F238E27FC236}">
                <a16:creationId xmlns:a16="http://schemas.microsoft.com/office/drawing/2014/main" id="{4D95545B-2A65-482A-A04E-F572850A4238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33" name="Shape 177">
            <a:extLst>
              <a:ext uri="{FF2B5EF4-FFF2-40B4-BE49-F238E27FC236}">
                <a16:creationId xmlns:a16="http://schemas.microsoft.com/office/drawing/2014/main" id="{60A9A8F1-316C-42DA-8F76-ACE11B976484}"/>
              </a:ext>
            </a:extLst>
          </p:cNvPr>
          <p:cNvSpPr txBox="1"/>
          <p:nvPr/>
        </p:nvSpPr>
        <p:spPr>
          <a:xfrm>
            <a:off x="165697" y="98010"/>
            <a:ext cx="764659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Energy-based approach to the power grid stability</a:t>
            </a:r>
          </a:p>
        </p:txBody>
      </p:sp>
      <p:sp>
        <p:nvSpPr>
          <p:cNvPr id="35" name="Shape 179">
            <a:extLst>
              <a:ext uri="{FF2B5EF4-FFF2-40B4-BE49-F238E27FC236}">
                <a16:creationId xmlns:a16="http://schemas.microsoft.com/office/drawing/2014/main" id="{B718AB03-12D2-476F-BA06-39D3281BA0BF}"/>
              </a:ext>
            </a:extLst>
          </p:cNvPr>
          <p:cNvSpPr txBox="1"/>
          <p:nvPr/>
        </p:nvSpPr>
        <p:spPr>
          <a:xfrm>
            <a:off x="10153777" y="136667"/>
            <a:ext cx="196970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Conclusion</a:t>
            </a:r>
            <a:endParaRPr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FA6F1B-FBA5-457A-BBF0-ABFB46B699D5}"/>
              </a:ext>
            </a:extLst>
          </p:cNvPr>
          <p:cNvSpPr txBox="1"/>
          <p:nvPr/>
        </p:nvSpPr>
        <p:spPr>
          <a:xfrm>
            <a:off x="465930" y="2003819"/>
            <a:ext cx="7564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Searching for links that most improve synchronization in oscillator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Using strategies that maximize different objective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SAF, which optimizes the order parameter, performs 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R</a:t>
            </a: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eflecting both the topology and structural information of the network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744CF-2834-450E-AEBF-F52CE1A81625}"/>
              </a:ext>
            </a:extLst>
          </p:cNvPr>
          <p:cNvSpPr txBox="1"/>
          <p:nvPr/>
        </p:nvSpPr>
        <p:spPr>
          <a:xfrm>
            <a:off x="3046936" y="1131023"/>
            <a:ext cx="1916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Summary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D64C12-6280-45C6-97F0-6F20C4E77CCC}"/>
              </a:ext>
            </a:extLst>
          </p:cNvPr>
          <p:cNvSpPr txBox="1"/>
          <p:nvPr/>
        </p:nvSpPr>
        <p:spPr>
          <a:xfrm>
            <a:off x="496616" y="4921949"/>
            <a:ext cx="7174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What is the optimal strategy when two or more links are added?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Applied to optimization problems such as power grid system</a:t>
            </a:r>
            <a:r>
              <a:rPr lang="en-US" dirty="0">
                <a:latin typeface="SeoulNamsanC M" panose="02020503020101020101" pitchFamily="18" charset="-127"/>
                <a:ea typeface="SeoulNamsanC M" panose="02020503020101020101" pitchFamily="18" charset="-127"/>
              </a:rPr>
              <a:t>s</a:t>
            </a:r>
            <a:endParaRPr dirty="0">
              <a:latin typeface="SeoulNamsanC M" panose="02020503020101020101" pitchFamily="18" charset="-127"/>
              <a:ea typeface="SeoulNamsanC M" panose="020205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CF6423-3148-4100-B997-DD6D5DCDC138}"/>
              </a:ext>
            </a:extLst>
          </p:cNvPr>
          <p:cNvSpPr txBox="1"/>
          <p:nvPr/>
        </p:nvSpPr>
        <p:spPr>
          <a:xfrm>
            <a:off x="2791013" y="4163501"/>
            <a:ext cx="2585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Future work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95ABC51-4454-468F-9577-9C31F938B305}"/>
              </a:ext>
            </a:extLst>
          </p:cNvPr>
          <p:cNvGrpSpPr/>
          <p:nvPr/>
        </p:nvGrpSpPr>
        <p:grpSpPr>
          <a:xfrm>
            <a:off x="7546165" y="843819"/>
            <a:ext cx="4299190" cy="3772742"/>
            <a:chOff x="8322661" y="957035"/>
            <a:chExt cx="3484769" cy="305804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859D972-AE62-43BD-A451-7C82E48F2D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140"/>
            <a:stretch/>
          </p:blipFill>
          <p:spPr>
            <a:xfrm>
              <a:off x="8621485" y="1156263"/>
              <a:ext cx="3185945" cy="2858821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403FE64-87A7-4075-AF48-DCA2BE560EAC}"/>
                </a:ext>
              </a:extLst>
            </p:cNvPr>
            <p:cNvSpPr/>
            <p:nvPr/>
          </p:nvSpPr>
          <p:spPr>
            <a:xfrm>
              <a:off x="8322661" y="957035"/>
              <a:ext cx="716351" cy="5350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C65EDE-C593-4F3E-BC83-FF654756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F73639-CABF-4EB3-A950-1D0499CCC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114" y="4966137"/>
            <a:ext cx="4190975" cy="1100488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FC1C4F5-5F81-4B9B-A708-A12D73D34EF9}"/>
              </a:ext>
            </a:extLst>
          </p:cNvPr>
          <p:cNvCxnSpPr>
            <a:cxnSpLocks/>
          </p:cNvCxnSpPr>
          <p:nvPr/>
        </p:nvCxnSpPr>
        <p:spPr>
          <a:xfrm>
            <a:off x="6663350" y="5406109"/>
            <a:ext cx="67827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65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25"/>
    </mc:Choice>
    <mc:Fallback xmlns="">
      <p:transition spd="slow" advTm="84225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8496</TotalTime>
  <Words>1599</Words>
  <Application>Microsoft Office PowerPoint</Application>
  <PresentationFormat>Widescreen</PresentationFormat>
  <Paragraphs>300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DIN Condensed</vt:lpstr>
      <vt:lpstr>맑은 고딕</vt:lpstr>
      <vt:lpstr>서울남산체 B</vt:lpstr>
      <vt:lpstr>서울남산 장체 M</vt:lpstr>
      <vt:lpstr>서울남산 장체 M</vt:lpstr>
      <vt:lpstr>Arial</vt:lpstr>
      <vt:lpstr>Cambria Math</vt:lpstr>
      <vt:lpstr>Helvetica</vt:lpstr>
      <vt:lpstr>Office 테마</vt:lpstr>
      <vt:lpstr>Optimal Link addition in Kuramoto Model for Enhanced synchronization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조원국</dc:creator>
  <cp:lastModifiedBy>Daekyung Lee</cp:lastModifiedBy>
  <cp:revision>306</cp:revision>
  <dcterms:created xsi:type="dcterms:W3CDTF">2020-09-16T05:55:20Z</dcterms:created>
  <dcterms:modified xsi:type="dcterms:W3CDTF">2025-11-24T11:52:47Z</dcterms:modified>
</cp:coreProperties>
</file>